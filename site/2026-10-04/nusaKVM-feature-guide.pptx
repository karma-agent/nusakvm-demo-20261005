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e594c5629a4c37" /><Relationship Type="http://schemas.openxmlformats.org/officeDocument/2006/relationships/extended-properties" Target="/docProps/app.xml" Id="Rfa02a01a6d634595" /><Relationship Type="http://schemas.openxmlformats.org/officeDocument/2006/relationships/officeDocument" Target="/ppt/presentation.xml" Id="Ra7b79dcc370b41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1fb8a5bf66441c"/>
  </p:sldMasterIdLst>
  <p:notesMasterIdLst>
    <p:notesMasterId xmlns:r="http://schemas.openxmlformats.org/officeDocument/2006/relationships" r:id="R8a1d535d25694f08"/>
  </p:notesMasterIdLst>
  <p:sldIdLst>
    <p:sldId xmlns:r="http://schemas.openxmlformats.org/officeDocument/2006/relationships" id="256" r:id="Rb86913a923ce42a3"/>
    <p:sldId xmlns:r="http://schemas.openxmlformats.org/officeDocument/2006/relationships" id="257" r:id="Rc65ca7bad5b9441a"/>
    <p:sldId xmlns:r="http://schemas.openxmlformats.org/officeDocument/2006/relationships" id="258" r:id="R61e6ce2f4f984056"/>
    <p:sldId xmlns:r="http://schemas.openxmlformats.org/officeDocument/2006/relationships" id="259" r:id="Rc3f8025683bd4cc4"/>
    <p:sldId xmlns:r="http://schemas.openxmlformats.org/officeDocument/2006/relationships" id="260" r:id="Rf53a00f605714131"/>
    <p:sldId xmlns:r="http://schemas.openxmlformats.org/officeDocument/2006/relationships" id="261" r:id="R614ae1b76423407c"/>
    <p:sldId xmlns:r="http://schemas.openxmlformats.org/officeDocument/2006/relationships" id="262" r:id="R1f3e6298986c4e56"/>
    <p:sldId xmlns:r="http://schemas.openxmlformats.org/officeDocument/2006/relationships" id="263" r:id="Ra8185317da3c4bbf"/>
    <p:sldId xmlns:r="http://schemas.openxmlformats.org/officeDocument/2006/relationships" id="264" r:id="R3b90482063764959"/>
    <p:sldId xmlns:r="http://schemas.openxmlformats.org/officeDocument/2006/relationships" id="265" r:id="R0fa47688811d4b67"/>
    <p:sldId xmlns:r="http://schemas.openxmlformats.org/officeDocument/2006/relationships" id="266" r:id="R573388da3bf942a1"/>
    <p:sldId xmlns:r="http://schemas.openxmlformats.org/officeDocument/2006/relationships" id="267" r:id="R6286c622f4a94364"/>
    <p:sldId xmlns:r="http://schemas.openxmlformats.org/officeDocument/2006/relationships" id="268" r:id="Rdceed49a60e44ecc"/>
    <p:sldId xmlns:r="http://schemas.openxmlformats.org/officeDocument/2006/relationships" id="269" r:id="R2d9241f72319414c"/>
    <p:sldId xmlns:r="http://schemas.openxmlformats.org/officeDocument/2006/relationships" id="270" r:id="R6339c43f8641467c"/>
    <p:sldId xmlns:r="http://schemas.openxmlformats.org/officeDocument/2006/relationships" id="271" r:id="R4d32357627524185"/>
    <p:sldId xmlns:r="http://schemas.openxmlformats.org/officeDocument/2006/relationships" id="272" r:id="Rfc40a4bf9bf8486b"/>
    <p:sldId xmlns:r="http://schemas.openxmlformats.org/officeDocument/2006/relationships" id="273" r:id="R18fb8ee620374373"/>
    <p:sldId xmlns:r="http://schemas.openxmlformats.org/officeDocument/2006/relationships" id="274" r:id="R2bc1fa4f581c4533"/>
    <p:sldId xmlns:r="http://schemas.openxmlformats.org/officeDocument/2006/relationships" id="275" r:id="R005faff268964c33"/>
    <p:sldId xmlns:r="http://schemas.openxmlformats.org/officeDocument/2006/relationships" id="276" r:id="R4ba67e3b095d4f00"/>
    <p:sldId xmlns:r="http://schemas.openxmlformats.org/officeDocument/2006/relationships" id="277" r:id="Rb6cb6ed237454a52"/>
    <p:sldId xmlns:r="http://schemas.openxmlformats.org/officeDocument/2006/relationships" id="278" r:id="Rff24ac5d6b5c4427"/>
    <p:sldId xmlns:r="http://schemas.openxmlformats.org/officeDocument/2006/relationships" id="279" r:id="R4ebbf1dff97f4c8c"/>
    <p:sldId xmlns:r="http://schemas.openxmlformats.org/officeDocument/2006/relationships" id="280" r:id="R5e2debab30544e5e"/>
    <p:sldId xmlns:r="http://schemas.openxmlformats.org/officeDocument/2006/relationships" id="281" r:id="R5f97d811860942e9"/>
    <p:sldId xmlns:r="http://schemas.openxmlformats.org/officeDocument/2006/relationships" id="282" r:id="Ra7f94ed934344819"/>
    <p:sldId xmlns:r="http://schemas.openxmlformats.org/officeDocument/2006/relationships" id="283" r:id="R1a6069ffc55f4c8e"/>
    <p:sldId xmlns:r="http://schemas.openxmlformats.org/officeDocument/2006/relationships" id="284" r:id="R9fc209de310340dd"/>
    <p:sldId xmlns:r="http://schemas.openxmlformats.org/officeDocument/2006/relationships" id="285" r:id="Raa73f81252c54e17"/>
    <p:sldId xmlns:r="http://schemas.openxmlformats.org/officeDocument/2006/relationships" id="286" r:id="Rcbce3fb16c8f4bc0"/>
    <p:sldId xmlns:r="http://schemas.openxmlformats.org/officeDocument/2006/relationships" id="287" r:id="R8bc4f09d15514c27"/>
    <p:sldId xmlns:r="http://schemas.openxmlformats.org/officeDocument/2006/relationships" id="288" r:id="R47b13bb5289e41aa"/>
    <p:sldId xmlns:r="http://schemas.openxmlformats.org/officeDocument/2006/relationships" id="289" r:id="Re05d46f5ea06447a"/>
    <p:sldId xmlns:r="http://schemas.openxmlformats.org/officeDocument/2006/relationships" id="290" r:id="R3f9b926bab1747a0"/>
    <p:sldId xmlns:r="http://schemas.openxmlformats.org/officeDocument/2006/relationships" id="291" r:id="Rbcf2e8615998401f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7222eacf054782" /><Relationship Type="http://schemas.openxmlformats.org/officeDocument/2006/relationships/slideMaster" Target="/ppt/slideMasters/slideMaster1.xml" Id="R981fb8a5bf66441c" /><Relationship Type="http://schemas.openxmlformats.org/officeDocument/2006/relationships/notesMaster" Target="/ppt/notesMasters/notesMaster1.xml" Id="R8a1d535d25694f08" /><Relationship Type="http://schemas.openxmlformats.org/officeDocument/2006/relationships/presProps" Target="/ppt/presProps.xml" Id="Re712cd42cd604c5e" /><Relationship Type="http://schemas.openxmlformats.org/officeDocument/2006/relationships/tableStyles" Target="/ppt/tableStyles.xml" Id="R76b7b8d8cb2b4521" /><Relationship Type="http://schemas.openxmlformats.org/officeDocument/2006/relationships/slide" Target="/ppt/slides/slide1.xml" Id="Rb86913a923ce42a3" /><Relationship Type="http://schemas.openxmlformats.org/officeDocument/2006/relationships/slide" Target="/ppt/slides/slide2.xml" Id="Rc65ca7bad5b9441a" /><Relationship Type="http://schemas.openxmlformats.org/officeDocument/2006/relationships/slide" Target="/ppt/slides/slide3.xml" Id="R61e6ce2f4f984056" /><Relationship Type="http://schemas.openxmlformats.org/officeDocument/2006/relationships/slide" Target="/ppt/slides/slide4.xml" Id="Rc3f8025683bd4cc4" /><Relationship Type="http://schemas.openxmlformats.org/officeDocument/2006/relationships/slide" Target="/ppt/slides/slide5.xml" Id="Rf53a00f605714131" /><Relationship Type="http://schemas.openxmlformats.org/officeDocument/2006/relationships/slide" Target="/ppt/slides/slide6.xml" Id="R614ae1b76423407c" /><Relationship Type="http://schemas.openxmlformats.org/officeDocument/2006/relationships/slide" Target="/ppt/slides/slide7.xml" Id="R1f3e6298986c4e56" /><Relationship Type="http://schemas.openxmlformats.org/officeDocument/2006/relationships/slide" Target="/ppt/slides/slide8.xml" Id="Ra8185317da3c4bbf" /><Relationship Type="http://schemas.openxmlformats.org/officeDocument/2006/relationships/slide" Target="/ppt/slides/slide9.xml" Id="R3b90482063764959" /><Relationship Type="http://schemas.openxmlformats.org/officeDocument/2006/relationships/slide" Target="/ppt/slides/slide10.xml" Id="R0fa47688811d4b67" /><Relationship Type="http://schemas.openxmlformats.org/officeDocument/2006/relationships/slide" Target="/ppt/slides/slide11.xml" Id="R573388da3bf942a1" /><Relationship Type="http://schemas.openxmlformats.org/officeDocument/2006/relationships/slide" Target="/ppt/slides/slide12.xml" Id="R6286c622f4a94364" /><Relationship Type="http://schemas.openxmlformats.org/officeDocument/2006/relationships/slide" Target="/ppt/slides/slide13.xml" Id="Rdceed49a60e44ecc" /><Relationship Type="http://schemas.openxmlformats.org/officeDocument/2006/relationships/slide" Target="/ppt/slides/slide14.xml" Id="R2d9241f72319414c" /><Relationship Type="http://schemas.openxmlformats.org/officeDocument/2006/relationships/slide" Target="/ppt/slides/slide15.xml" Id="R6339c43f8641467c" /><Relationship Type="http://schemas.openxmlformats.org/officeDocument/2006/relationships/slide" Target="/ppt/slides/slide16.xml" Id="R4d32357627524185" /><Relationship Type="http://schemas.openxmlformats.org/officeDocument/2006/relationships/slide" Target="/ppt/slides/slide17.xml" Id="Rfc40a4bf9bf8486b" /><Relationship Type="http://schemas.openxmlformats.org/officeDocument/2006/relationships/slide" Target="/ppt/slides/slide18.xml" Id="R18fb8ee620374373" /><Relationship Type="http://schemas.openxmlformats.org/officeDocument/2006/relationships/slide" Target="/ppt/slides/slide19.xml" Id="R2bc1fa4f581c4533" /><Relationship Type="http://schemas.openxmlformats.org/officeDocument/2006/relationships/slide" Target="/ppt/slides/slide20.xml" Id="R005faff268964c33" /><Relationship Type="http://schemas.openxmlformats.org/officeDocument/2006/relationships/slide" Target="/ppt/slides/slide21.xml" Id="R4ba67e3b095d4f00" /><Relationship Type="http://schemas.openxmlformats.org/officeDocument/2006/relationships/slide" Target="/ppt/slides/slide22.xml" Id="Rb6cb6ed237454a52" /><Relationship Type="http://schemas.openxmlformats.org/officeDocument/2006/relationships/slide" Target="/ppt/slides/slide23.xml" Id="Rff24ac5d6b5c4427" /><Relationship Type="http://schemas.openxmlformats.org/officeDocument/2006/relationships/slide" Target="/ppt/slides/slide24.xml" Id="R4ebbf1dff97f4c8c" /><Relationship Type="http://schemas.openxmlformats.org/officeDocument/2006/relationships/slide" Target="/ppt/slides/slide25.xml" Id="R5e2debab30544e5e" /><Relationship Type="http://schemas.openxmlformats.org/officeDocument/2006/relationships/slide" Target="/ppt/slides/slide26.xml" Id="R5f97d811860942e9" /><Relationship Type="http://schemas.openxmlformats.org/officeDocument/2006/relationships/slide" Target="/ppt/slides/slide27.xml" Id="Ra7f94ed934344819" /><Relationship Type="http://schemas.openxmlformats.org/officeDocument/2006/relationships/slide" Target="/ppt/slides/slide28.xml" Id="R1a6069ffc55f4c8e" /><Relationship Type="http://schemas.openxmlformats.org/officeDocument/2006/relationships/slide" Target="/ppt/slides/slide29.xml" Id="R9fc209de310340dd" /><Relationship Type="http://schemas.openxmlformats.org/officeDocument/2006/relationships/slide" Target="/ppt/slides/slide30.xml" Id="Raa73f81252c54e17" /><Relationship Type="http://schemas.openxmlformats.org/officeDocument/2006/relationships/slide" Target="/ppt/slides/slide31.xml" Id="Rcbce3fb16c8f4bc0" /><Relationship Type="http://schemas.openxmlformats.org/officeDocument/2006/relationships/slide" Target="/ppt/slides/slide32.xml" Id="R8bc4f09d15514c27" /><Relationship Type="http://schemas.openxmlformats.org/officeDocument/2006/relationships/slide" Target="/ppt/slides/slide33.xml" Id="R47b13bb5289e41aa" /><Relationship Type="http://schemas.openxmlformats.org/officeDocument/2006/relationships/slide" Target="/ppt/slides/slide34.xml" Id="Re05d46f5ea06447a" /><Relationship Type="http://schemas.openxmlformats.org/officeDocument/2006/relationships/slide" Target="/ppt/slides/slide35.xml" Id="R3f9b926bab1747a0" /><Relationship Type="http://schemas.openxmlformats.org/officeDocument/2006/relationships/slide" Target="/ppt/slides/slide36.xml" Id="Rbcf2e861599840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0573fcf43242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3ee769cf364d16" /><Relationship Type="http://schemas.openxmlformats.org/officeDocument/2006/relationships/notesMaster" Target="/ppt/notesMasters/notesMaster1.xml" Id="Rb21698d1b5424f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76562eca2d4c97" /><Relationship Type="http://schemas.openxmlformats.org/officeDocument/2006/relationships/notesMaster" Target="/ppt/notesMasters/notesMaster1.xml" Id="R6a71d39f5e074c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8628d44ff04a17" /><Relationship Type="http://schemas.openxmlformats.org/officeDocument/2006/relationships/notesMaster" Target="/ppt/notesMasters/notesMaster1.xml" Id="R37928b731a374b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2f25472f984db2" /><Relationship Type="http://schemas.openxmlformats.org/officeDocument/2006/relationships/notesMaster" Target="/ppt/notesMasters/notesMaster1.xml" Id="Rdcfcb634709f4a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bd173893324576" /><Relationship Type="http://schemas.openxmlformats.org/officeDocument/2006/relationships/notesMaster" Target="/ppt/notesMasters/notesMaster1.xml" Id="R0d1022ccaf7045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5706383061452c" /><Relationship Type="http://schemas.openxmlformats.org/officeDocument/2006/relationships/notesMaster" Target="/ppt/notesMasters/notesMaster1.xml" Id="R0ebc533f30c142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4e4a0dc4324da2" /><Relationship Type="http://schemas.openxmlformats.org/officeDocument/2006/relationships/notesMaster" Target="/ppt/notesMasters/notesMaster1.xml" Id="R849221050e8645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1ca624036f4f28" /><Relationship Type="http://schemas.openxmlformats.org/officeDocument/2006/relationships/notesMaster" Target="/ppt/notesMasters/notesMaster1.xml" Id="Rb487180f45b542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53cc3ef420479e" /><Relationship Type="http://schemas.openxmlformats.org/officeDocument/2006/relationships/notesMaster" Target="/ppt/notesMasters/notesMaster1.xml" Id="Rf5f1df19b83844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c2dab9f2104b2a" /><Relationship Type="http://schemas.openxmlformats.org/officeDocument/2006/relationships/notesMaster" Target="/ppt/notesMasters/notesMaster1.xml" Id="R48d8ef586cda4e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02237123d724bbc" /><Relationship Type="http://schemas.openxmlformats.org/officeDocument/2006/relationships/notesMaster" Target="/ppt/notesMasters/notesMaster1.xml" Id="Rf691eadf621749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d737b87050462f" /><Relationship Type="http://schemas.openxmlformats.org/officeDocument/2006/relationships/notesMaster" Target="/ppt/notesMasters/notesMaster1.xml" Id="Rdac591c7f84b45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485f628d374cc3" /><Relationship Type="http://schemas.openxmlformats.org/officeDocument/2006/relationships/notesMaster" Target="/ppt/notesMasters/notesMaster1.xml" Id="Ra16150859eda4f4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eed55ba3cae4d59" /><Relationship Type="http://schemas.openxmlformats.org/officeDocument/2006/relationships/notesMaster" Target="/ppt/notesMasters/notesMaster1.xml" Id="R87284052518a442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495535847934c93" /><Relationship Type="http://schemas.openxmlformats.org/officeDocument/2006/relationships/notesMaster" Target="/ppt/notesMasters/notesMaster1.xml" Id="Rc9f55565d2fd4f0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4937063a67d4c02" /><Relationship Type="http://schemas.openxmlformats.org/officeDocument/2006/relationships/notesMaster" Target="/ppt/notesMasters/notesMaster1.xml" Id="Ra89a59ad2df34b2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4fe9d4dd7c441fc" /><Relationship Type="http://schemas.openxmlformats.org/officeDocument/2006/relationships/notesMaster" Target="/ppt/notesMasters/notesMaster1.xml" Id="Rced4c0a4f6fa40c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364341ae86b482e" /><Relationship Type="http://schemas.openxmlformats.org/officeDocument/2006/relationships/notesMaster" Target="/ppt/notesMasters/notesMaster1.xml" Id="Rc3e32c69f030483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2f844f9e3884e9d" /><Relationship Type="http://schemas.openxmlformats.org/officeDocument/2006/relationships/notesMaster" Target="/ppt/notesMasters/notesMaster1.xml" Id="R560b9668fe9344e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f22688ab7fb485e" /><Relationship Type="http://schemas.openxmlformats.org/officeDocument/2006/relationships/notesMaster" Target="/ppt/notesMasters/notesMaster1.xml" Id="Rded1c960668b412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148059247674ca2" /><Relationship Type="http://schemas.openxmlformats.org/officeDocument/2006/relationships/notesMaster" Target="/ppt/notesMasters/notesMaster1.xml" Id="R348119e825f646f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559f053aaf34149" /><Relationship Type="http://schemas.openxmlformats.org/officeDocument/2006/relationships/notesMaster" Target="/ppt/notesMasters/notesMaster1.xml" Id="R6f41dac1e502434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e056e490338431f" /><Relationship Type="http://schemas.openxmlformats.org/officeDocument/2006/relationships/notesMaster" Target="/ppt/notesMasters/notesMaster1.xml" Id="Re6738a092b094b7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99489dca9aa47f4" /><Relationship Type="http://schemas.openxmlformats.org/officeDocument/2006/relationships/notesMaster" Target="/ppt/notesMasters/notesMaster1.xml" Id="R8c49ad8ebe564b3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68f6ccad8dc4d35" /><Relationship Type="http://schemas.openxmlformats.org/officeDocument/2006/relationships/notesMaster" Target="/ppt/notesMasters/notesMaster1.xml" Id="Rb2a2050f1277485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9cefde616df44f1" /><Relationship Type="http://schemas.openxmlformats.org/officeDocument/2006/relationships/notesMaster" Target="/ppt/notesMasters/notesMaster1.xml" Id="Rc2fb2b8543304ab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ffa71981bc44da6" /><Relationship Type="http://schemas.openxmlformats.org/officeDocument/2006/relationships/notesMaster" Target="/ppt/notesMasters/notesMaster1.xml" Id="R02460ddd2986492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d605e7c155c48d5" /><Relationship Type="http://schemas.openxmlformats.org/officeDocument/2006/relationships/notesMaster" Target="/ppt/notesMasters/notesMaster1.xml" Id="R81d555ecefa948d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cd84b8433f14af1" /><Relationship Type="http://schemas.openxmlformats.org/officeDocument/2006/relationships/notesMaster" Target="/ppt/notesMasters/notesMaster1.xml" Id="R9957850670e0468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cf5b533f5b244c5" /><Relationship Type="http://schemas.openxmlformats.org/officeDocument/2006/relationships/notesMaster" Target="/ppt/notesMasters/notesMaster1.xml" Id="Rb2e32e43d5a64c1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4352cb959e34a77" /><Relationship Type="http://schemas.openxmlformats.org/officeDocument/2006/relationships/notesMaster" Target="/ppt/notesMasters/notesMaster1.xml" Id="Rd613cf5ff5cb462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31d19f02534465a" /><Relationship Type="http://schemas.openxmlformats.org/officeDocument/2006/relationships/notesMaster" Target="/ppt/notesMasters/notesMaster1.xml" Id="Re786b52129aa432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ab747d375334da3" /><Relationship Type="http://schemas.openxmlformats.org/officeDocument/2006/relationships/notesMaster" Target="/ppt/notesMasters/notesMaster1.xml" Id="R21532e0d78a44be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35e4d05e8fa4bb6" /><Relationship Type="http://schemas.openxmlformats.org/officeDocument/2006/relationships/notesMaster" Target="/ppt/notesMasters/notesMaster1.xml" Id="R5ed6eb9a55a047e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0d94b77acdc4ec7" /><Relationship Type="http://schemas.openxmlformats.org/officeDocument/2006/relationships/notesMaster" Target="/ppt/notesMasters/notesMaster1.xml" Id="R43cd0fcdff174de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0fa42728f124b24" /><Relationship Type="http://schemas.openxmlformats.org/officeDocument/2006/relationships/notesMaster" Target="/ppt/notesMasters/notesMaster1.xml" Id="Rd6242c4c7ad949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先從主機頁開始：查看當下畫面，再選擇自己操作，或描述希望人工智慧完成的目標。這支影片導覽現行應用程式與自有協調服務；畫面來源和實際操作程度會逐段標示。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素材狀態：actual</a:t>
            </a:r>
          </a:p>
          <a:p xmlns:a="http://schemas.openxmlformats.org/drawingml/2006/main">
            <a:r>
              <a:t>實際來源：clean_home</a:t>
            </a:r>
          </a:p>
          <a:p xmlns:a="http://schemas.openxmlformats.org/drawingml/2006/main">
            <a:r>
              <a:t>reports/assets/nusa-demo-2026-10-04/capture/scene-index.json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手機透過自有協調服務，連接實驗室的主機控制器，已探索到十九項工具、十二種功能。最初畫面取不到，確認螢幕休眠後，經使用者授權送出一次修飾鍵，新影像隨即恢復。影片會遮蔽帳戶區域，並區分已實演操作、目前可用功能與尚未驗收範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素材狀態：actual</a:t>
            </a:r>
          </a:p>
          <a:p xmlns:a="http://schemas.openxmlformats.org/drawingml/2006/main">
            <a:r>
              <a:t>實際來源：clean_home</a:t>
            </a:r>
          </a:p>
          <a:p xmlns:a="http://schemas.openxmlformats.org/drawingml/2006/main">
            <a:r>
              <a:t>reports/assets/nusa-demo-2026-10-04/live-evidence.json</a:t>
            </a:r>
          </a:p>
          <a:p xmlns:a="http://schemas.openxmlformats.org/drawingml/2006/main">
            <a:r>
              <a:t>reports/assets/nusa-demo-2026-10-04/live-evidence.json#wakeAttempts</a:t>
            </a:r>
          </a:p>
          <a:p xmlns:a="http://schemas.openxmlformats.org/drawingml/2006/main">
            <a:r>
              <a:t>reports/assets/nusa-demo-2026-10-04/capture/scene-index.json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第一次使用，填入協調服務位址、憑證指紋與一次性配對碼，也可以掃描配對圖碼。完成核對後，手機把授權放進系統安全儲存區；正式連線使用加密通道，畫面不會展示金鑰或配對碼。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素材狀態：actual</a:t>
            </a:r>
          </a:p>
          <a:p xmlns:a="http://schemas.openxmlformats.org/drawingml/2006/main">
            <a:r>
              <a:t>實際來源：pairing</a:t>
            </a:r>
          </a:p>
          <a:p xmlns:a="http://schemas.openxmlformats.org/drawingml/2006/main">
            <a:r>
              <a:t>reports/assets/nusa-demo-2026-10-04/capture/scene-index.json#pairing</a:t>
            </a:r>
          </a:p>
          <a:p xmlns:a="http://schemas.openxmlformats.org/drawingml/2006/main">
            <a:r>
              <a:t>reports/assets/nusa-demo-2026-10-04/capture/scene-index.json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如果已取得授權，後續核對卻失敗，進度卡會保留這一次固定的來源。你可以明確續接、取消等待，或確認撤銷這份暫存授權。僅忘記本機暫存不代表遠端已撤銷，也不會偷偷再用一次配對碼。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素材狀態：readonly</a:t>
            </a:r>
          </a:p>
          <a:p xmlns:a="http://schemas.openxmlformats.org/drawingml/2006/main">
            <a:r>
              <a:t>實際來源：來源程式與流程解說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授權分成查看、控制、任務與設定四種。唯讀手機仍能查看支援的畫面與歷史文字；協助操作另需控制權限。授權到期或被撤回時，私有資料與敏感草稿會撤下，必須重新核對連線。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素材狀態：actual</a:t>
            </a:r>
          </a:p>
          <a:p xmlns:a="http://schemas.openxmlformats.org/drawingml/2006/main">
            <a:r>
              <a:t>實際來源：clean_home</a:t>
            </a:r>
          </a:p>
          <a:p xmlns:a="http://schemas.openxmlformats.org/drawingml/2006/main">
            <a:r>
              <a:t>reports/assets/nusa-demo-2026-10-04/capture/scene-index.json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機畫面保留比例，並標示尺寸、收到時間和目前狀態；本次喚醒後已恢復真實影像。需要看小字時，可以放大或進入全螢幕，這兩種查看方式不送出鍵鼠。舊截圖仍可參考，但不會因為它還看得見，就開放新的主機輸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素材狀態：actual</a:t>
            </a:r>
          </a:p>
          <a:p xmlns:a="http://schemas.openxmlformats.org/drawingml/2006/main">
            <a:r>
              <a:t>實際來源：clean_live_screen</a:t>
            </a:r>
          </a:p>
          <a:p xmlns:a="http://schemas.openxmlformats.org/drawingml/2006/main">
            <a:r>
              <a:t>reports/assets/nusa-demo-2026-10-04/live-evidence.json#wakeAttempts</a:t>
            </a:r>
          </a:p>
          <a:p xmlns:a="http://schemas.openxmlformats.org/drawingml/2006/main">
            <a:r>
              <a:t>reports/assets/nusa-demo-2026-10-04/real-clean-host-screen.jpg</a:t>
            </a:r>
          </a:p>
          <a:p xmlns:a="http://schemas.openxmlformats.org/drawingml/2006/main">
            <a:r>
              <a:t>reports/assets/nusa-demo-2026-10-04/capture/scene-index.json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同步選單提供即時、一秒、五秒與自訂間隔，並記住你的選擇。每次讀取完成後才安排下一次，不讓要求重疊；切到背景也會暫停。這是連續取得截圖的監看方式，不是影片串流，更沒有錄影或重播。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素材狀態：actual</a:t>
            </a:r>
          </a:p>
          <a:p xmlns:a="http://schemas.openxmlformats.org/drawingml/2006/main">
            <a:r>
              <a:t>實際來源：clean_live_screen</a:t>
            </a:r>
          </a:p>
          <a:p xmlns:a="http://schemas.openxmlformats.org/drawingml/2006/main">
            <a:r>
              <a:t>reports/assets/nusa-demo-2026-10-04/capture/scene-index.json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恢復區會區分協調服務與取圖的問題；若主機螢幕休眠，要依授權喚醒，再核對新畫面。本次以一次修飾鍵恢復影像，但重新核對並取圖按鈕本身只是免費讀取。暫時錯誤只做有限重試，需要修正的錯誤會暫停；取消只結束等待，不等於主機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素材狀態：readonly</a:t>
            </a:r>
          </a:p>
          <a:p xmlns:a="http://schemas.openxmlformats.org/drawingml/2006/main">
            <a:r>
              <a:t>實際來源：diagnostics</a:t>
            </a:r>
          </a:p>
          <a:p xmlns:a="http://schemas.openxmlformats.org/drawingml/2006/main">
            <a:r>
              <a:t>reports/assets/nusa-demo-2026-10-04/live-evidence.json#wakeAttempts</a:t>
            </a:r>
          </a:p>
          <a:p xmlns:a="http://schemas.openxmlformats.org/drawingml/2006/main">
            <a:r>
              <a:t>reports/assets/nusa-demo-2026-10-04/capture/scene-index.json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進入手動控制後，先核對主機、目前畫面與控制權限，再點選畫面上的位置。左鍵是基本操作；只有設備真的提供能力時，才會顯示右鍵與連點兩下。每次操作後重新觀察，不把派送回應當成畫面結果。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素材狀態：actual</a:t>
            </a:r>
          </a:p>
          <a:p xmlns:a="http://schemas.openxmlformats.org/drawingml/2006/main">
            <a:r>
              <a:t>實際來源：manual_pointer</a:t>
            </a:r>
          </a:p>
          <a:p xmlns:a="http://schemas.openxmlformats.org/drawingml/2006/main">
            <a:r>
              <a:t>reports/assets/nusa-demo-2026-10-04/live-evidence.json</a:t>
            </a:r>
          </a:p>
          <a:p xmlns:a="http://schemas.openxmlformats.org/drawingml/2006/main">
            <a:r>
              <a:t>reports/assets/nusa-demo-2026-10-04/capture/scene-index.json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鍵盤區把方向鍵、確認鍵、複製貼上與視窗切換分成常用和系統類別，也提供開機設定常見按鍵。先選類別，再送出一次快捷鍵。開機按鍵依主機而異，畫面不明時不能靠反覆按鍵猜測。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素材狀態：actual</a:t>
            </a:r>
          </a:p>
          <a:p xmlns:a="http://schemas.openxmlformats.org/drawingml/2006/main">
            <a:r>
              <a:t>實際來源：manual_keyboard_text</a:t>
            </a:r>
          </a:p>
          <a:p xmlns:a="http://schemas.openxmlformats.org/drawingml/2006/main">
            <a:r>
              <a:t>reports/assets/nusa-demo-2026-10-04/live-evidence.json</a:t>
            </a:r>
          </a:p>
          <a:p xmlns:a="http://schemas.openxmlformats.org/drawingml/2006/main">
            <a:r>
              <a:t>reports/assets/nusa-demo-2026-10-04/capture/scene-index.json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字與確認鍵分開傳送，一般文字不要放密碼；本次由手機送出公開示範文字，並核對新的主機畫面。最多四千個傳送字元，表情符號可能計入多個字元。同頁失敗保留草稿，取消不重送；離頁或進入背景會清除私有草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素材狀態：actual</a:t>
            </a:r>
          </a:p>
          <a:p xmlns:a="http://schemas.openxmlformats.org/drawingml/2006/main">
            <a:r>
              <a:t>實際來源：manual_input_workflow</a:t>
            </a:r>
          </a:p>
          <a:p xmlns:a="http://schemas.openxmlformats.org/drawingml/2006/main">
            <a:r>
              <a:t>reports/assets/nusa-demo-2026-10-04/live-evidence.json</a:t>
            </a:r>
          </a:p>
          <a:p xmlns:a="http://schemas.openxmlformats.org/drawingml/2006/main">
            <a:r>
              <a:t>reports/assets/nusa-demo-2026-10-04/live-evidence.json#appManual</a:t>
            </a:r>
          </a:p>
          <a:p xmlns:a="http://schemas.openxmlformats.org/drawingml/2006/main">
            <a:r>
              <a:t>reports/assets/nusa-demo-2026-10-04/capture/scene-index.json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上下捲動各是一個明確動作；如果設備支援相對移動，還可以選微調、標準或大步。每次只移動一段，再等新畫面確認。這些控制都共用新鮮畫面與授權限制，沒有持續拖曳或自動重播。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素材狀態：actual</a:t>
            </a:r>
          </a:p>
          <a:p xmlns:a="http://schemas.openxmlformats.org/drawingml/2006/main">
            <a:r>
              <a:t>實際來源：manual</a:t>
            </a:r>
          </a:p>
          <a:p xmlns:a="http://schemas.openxmlformats.org/drawingml/2006/main">
            <a:r>
              <a:t>reports/assets/nusa-demo-2026-10-04/live-evidence.json</a:t>
            </a:r>
          </a:p>
          <a:p xmlns:a="http://schemas.openxmlformats.org/drawingml/2006/main">
            <a:r>
              <a:t>reports/assets/nusa-demo-2026-10-04/capture/scene-index.json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主機頁描述目標與限制，再選只觀察或協助操作。本次由真實服務啟動一次純觀察，模型讀取乾淨示範畫面並完成回覆，沒有送出主機輸入。手機的開始入口另外實拍；正式開始前要核對模型與傳送同意，任務文字不要包含秘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素材狀態：actual</a:t>
            </a:r>
          </a:p>
          <a:p xmlns:a="http://schemas.openxmlformats.org/drawingml/2006/main">
            <a:r>
              <a:t>實際來源：actual_ai_task_detail</a:t>
            </a:r>
          </a:p>
          <a:p xmlns:a="http://schemas.openxmlformats.org/drawingml/2006/main">
            <a:r>
              <a:t>reports/assets/nusa-demo-2026-10-04/live-evidence.json#liveObserve</a:t>
            </a:r>
          </a:p>
          <a:p xmlns:a="http://schemas.openxmlformats.org/drawingml/2006/main">
            <a:r>
              <a:t>reports/assets/nusa-demo-2026-10-04/capture/scene-index.json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開始前摘要列出目前主機、供應商、請求模型，以及人工智慧請求次數和任務期限。按下時會固定這份要求，設定改變就重新核對。文字用量門檻是收到回應後的停止條件，不是保證費用不超過某個金額。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素材狀態：actual</a:t>
            </a:r>
          </a:p>
          <a:p xmlns:a="http://schemas.openxmlformats.org/drawingml/2006/main">
            <a:r>
              <a:t>實際來源：task_start</a:t>
            </a:r>
          </a:p>
          <a:p xmlns:a="http://schemas.openxmlformats.org/drawingml/2006/main">
            <a:r>
              <a:t>reports/assets/nusa-demo-2026-10-04/capture/scene-index.json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快速開始提供準備終端機、電腦檢查、錯誤處理、畫面說明與平台上架五種目標。它們是任務範本，不是繞過確認的捷徑；模型、授權和每次操作核對都照常生效。目前必要條件未就緒的入口會保持停用。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素材狀態：readonly</a:t>
            </a:r>
          </a:p>
          <a:p xmlns:a="http://schemas.openxmlformats.org/drawingml/2006/main">
            <a:r>
              <a:t>實際來源：clean_home</a:t>
            </a:r>
          </a:p>
          <a:p xmlns:a="http://schemas.openxmlformats.org/drawingml/2006/main">
            <a:r>
              <a:t>reports/assets/nusa-demo-2026-10-04/capture/scene-index.json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上架任務依序檢查主機、登入、準備引擎，再核對認證、定價與可出租狀態。任務頁把階段進度和成果摘要保留下來，缺少定價等資料時仍需你選擇。畫面上的完成判讀不等於平台另行提供的獨立認證。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素材狀態：readonly</a:t>
            </a:r>
          </a:p>
          <a:p xmlns:a="http://schemas.openxmlformats.org/drawingml/2006/main">
            <a:r>
              <a:t>實際來源：來源程式與流程解說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常用指令可以新增、搜尋、編輯與刪除，把目標和限制存成下次可用的範本。八種救援範本預設只觀察，加入後再調整模式。內容保存在手機，請不要存入密碼；真正執行時仍核對目前來源與權限。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素材狀態：actual</a:t>
            </a:r>
          </a:p>
          <a:p xmlns:a="http://schemas.openxmlformats.org/drawingml/2006/main">
            <a:r>
              <a:t>實際來源：instructions_workflow</a:t>
            </a:r>
          </a:p>
          <a:p xmlns:a="http://schemas.openxmlformats.org/drawingml/2006/main">
            <a:r>
              <a:t>reports/assets/nusa-demo-2026-10-04/capture/scene-index.json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務詳情顯示狀態、等待原因、文字事件，也保留開始時的原始限制。先前取圖受阻的唯讀任務沒有模型請求；醒機與公開文稿準備後，另一筆純觀察用一次請求完成回覆。剩餘時間與已知用量依服務回報；未知或待回覆會明示，不編造數字，也不允許不確定的續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素材狀態：actual</a:t>
            </a:r>
          </a:p>
          <a:p xmlns:a="http://schemas.openxmlformats.org/drawingml/2006/main">
            <a:r>
              <a:t>實際來源：actual_ai_workflow</a:t>
            </a:r>
          </a:p>
          <a:p xmlns:a="http://schemas.openxmlformats.org/drawingml/2006/main">
            <a:r>
              <a:t>reports/assets/nusa-demo-2026-10-04/live-evidence.json#taskDemo</a:t>
            </a:r>
          </a:p>
          <a:p xmlns:a="http://schemas.openxmlformats.org/drawingml/2006/main">
            <a:r>
              <a:t>reports/assets/nusa-demo-2026-10-04/live-evidence.json#liveObserve</a:t>
            </a:r>
          </a:p>
          <a:p xmlns:a="http://schemas.openxmlformats.org/drawingml/2006/main">
            <a:r>
              <a:t>reports/assets/nusa-demo-2026-10-04/capture/scene-index.json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待核准卡把按鍵、點擊或文字轉成可以閱讀的操作預覽，也能展開原始內容核對。允許或拒絕只對應當時顯示的那一筆請求；核准有期限，畫面改變也會失效。未知格式會保留內容，不假裝已理解動作。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素材狀態：readonly</a:t>
            </a:r>
          </a:p>
          <a:p xmlns:a="http://schemas.openxmlformats.org/drawingml/2006/main">
            <a:r>
              <a:t>實際來源：來源程式與流程解說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登入帳號與密碼在設定頁輸入後，由協調服務加密保管；模型不直接取得密碼。安全代填需先啟用，再逐次核對登入、解鎖或提權用途，以及當前畫面。這段導覽不需要展示秘密，也不會把未演示的登入說成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素材狀態：readonly</a:t>
            </a:r>
          </a:p>
          <a:p xmlns:a="http://schemas.openxmlformats.org/drawingml/2006/main">
            <a:r>
              <a:t>實際來源：來源程式與流程解說</a:t>
            </a:r>
          </a:p>
          <a:p xmlns:a="http://schemas.openxmlformats.org/drawingml/2006/main">
            <a:r>
              <a:t>reports/assets/nusa-demo-2026-10-04/live-evidence.json#login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需要自己處理時，按我來接手，讓代理暫停，再進入手動控制。完成核對後，可以重新觀察並繼續。等待操作回覆可以取消，但已提交的動作可能生效；它不會自動重送，停止入口也不会被等待擋住。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素材狀態：readonly</a:t>
            </a:r>
          </a:p>
          <a:p xmlns:a="http://schemas.openxmlformats.org/drawingml/2006/main">
            <a:r>
              <a:t>實際來源：來源程式與流程解說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停止入口固定對應已知任務，讀取報告或等待畫面時也能使用；本次實際停止已收到服務確認。結果未知時，可先唯讀核對原任務，再明確再次提出停止。核對到目前終止狀態，不等於原要求或儲存已獲確認。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素材狀態：readonly</a:t>
            </a:r>
          </a:p>
          <a:p xmlns:a="http://schemas.openxmlformats.org/drawingml/2006/main">
            <a:r>
              <a:t>實際來源：task_detail</a:t>
            </a:r>
          </a:p>
          <a:p xmlns:a="http://schemas.openxmlformats.org/drawingml/2006/main">
            <a:r>
              <a:t>reports/assets/nusa-demo-2026-10-04/live-evidence.json#taskDemo</a:t>
            </a:r>
          </a:p>
          <a:p xmlns:a="http://schemas.openxmlformats.org/drawingml/2006/main">
            <a:r>
              <a:t>reports/assets/nusa-demo-2026-10-04/capture/scene-index.json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如果啟動要求可能已送達，主機頁保留前次要求的提示。按確認前次啟動，先查原來那一份要求；只有服務提供持久重試保障時，才可能送出同一份要求。關閉本機提示只是放下這個提示，不會停止遠端任務。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素材狀態：readonly</a:t>
            </a:r>
          </a:p>
          <a:p xmlns:a="http://schemas.openxmlformats.org/drawingml/2006/main">
            <a:r>
              <a:t>實際來源：來源程式與流程解說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任務頁可明確搜尋摘要、篩選全部、未結束或已結束，並分頁載入更多。輸入文字不會自動搜尋；下方會區分已載入、符合與全部紀錄。點進任務後才取得詳情，摘要不會直接變成可控制的完整任務。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素材狀態：actual</a:t>
            </a:r>
          </a:p>
          <a:p xmlns:a="http://schemas.openxmlformats.org/drawingml/2006/main">
            <a:r>
              <a:t>實際來源：actual_ai_history</a:t>
            </a:r>
          </a:p>
          <a:p xmlns:a="http://schemas.openxmlformats.org/drawingml/2006/main">
            <a:r>
              <a:t>reports/assets/nusa-demo-2026-10-04/live-evidence.json#apiReads</a:t>
            </a:r>
          </a:p>
          <a:p xmlns:a="http://schemas.openxmlformats.org/drawingml/2006/main">
            <a:r>
              <a:t>reports/assets/nusa-demo-2026-10-04/capture/scene-index.json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清除確認會顯示來源，背景或來源改變後必須重新確認。服務只清除符合條件的已結束紀錄，執行中或最後請求未結算的資料仍保留。收到清除回應與後續更新分開處理，不因更新失敗就重送刪除。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素材狀態：actual</a:t>
            </a:r>
          </a:p>
          <a:p xmlns:a="http://schemas.openxmlformats.org/drawingml/2006/main">
            <a:r>
              <a:t>實際來源：history_clear_dialog</a:t>
            </a:r>
          </a:p>
          <a:p xmlns:a="http://schemas.openxmlformats.org/drawingml/2006/main">
            <a:r>
              <a:t>reports/assets/nusa-demo-2026-10-04/capture/scene-index.json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操作收據只列來源、動作類型、派送狀態與時間，也可以篩選結果未知。派送已回應不代表目標已達成；後來的新畫面也只是觀察證據。收據沒有原始輸入內容或重播按鈕，關聯任務可以再點入核對。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素材狀態：actual</a:t>
            </a:r>
          </a:p>
          <a:p xmlns:a="http://schemas.openxmlformats.org/drawingml/2006/main">
            <a:r>
              <a:t>實際來源：operation_receipt</a:t>
            </a:r>
          </a:p>
          <a:p xmlns:a="http://schemas.openxmlformats.org/drawingml/2006/main">
            <a:r>
              <a:t>reports/assets/nusa-demo-2026-10-04/live-evidence.json#apiReads</a:t>
            </a:r>
          </a:p>
          <a:p xmlns:a="http://schemas.openxmlformats.org/drawingml/2006/main">
            <a:r>
              <a:t>reports/assets/nusa-demo-2026-10-04/capture/scene-index.json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從任務詳情開啟報告後，先按產生，再查看固定時間的文字快照。預設只有摘要；需要文字事件時，明確選取並重新產生。省略或截短會標示，來源或授權改變就撤下舊預覽，沒有自動送出新的報告要求。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素材狀態：actual</a:t>
            </a:r>
          </a:p>
          <a:p xmlns:a="http://schemas.openxmlformats.org/drawingml/2006/main">
            <a:r>
              <a:t>實際來源：reports_workflow</a:t>
            </a:r>
          </a:p>
          <a:p xmlns:a="http://schemas.openxmlformats.org/drawingml/2006/main">
            <a:r>
              <a:t>reports/assets/nusa-demo-2026-10-04/live-evidence.json#apiReads</a:t>
            </a:r>
          </a:p>
          <a:p xmlns:a="http://schemas.openxmlformats.org/drawingml/2006/main">
            <a:r>
              <a:t>reports/assets/nusa-demo-2026-10-04/capture/scene-index.json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報告可透過系統分享，或儲存成純文字檔；這些動作由你明確啟動。事件可能包含畫面文字，分享前要自行核對。已交給系統或存到外部的內容，應用程式不保證可以撤回；報告也不含影片或獨立畫面重播。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素材狀態：readonly</a:t>
            </a:r>
          </a:p>
          <a:p xmlns:a="http://schemas.openxmlformats.org/drawingml/2006/main">
            <a:r>
              <a:t>實際來源：actual_ai_report_preview</a:t>
            </a:r>
          </a:p>
          <a:p xmlns:a="http://schemas.openxmlformats.org/drawingml/2006/main">
            <a:r>
              <a:t>reports/assets/nusa-demo-2026-10-04/live-evidence.json#apiReads</a:t>
            </a:r>
          </a:p>
          <a:p xmlns:a="http://schemas.openxmlformats.org/drawingml/2006/main">
            <a:r>
              <a:t>reports/assets/nusa-demo-2026-10-04/capture/scene-index.json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歷史文字頁讀取的是實驗室設備原本留下的文字觀察，不是現在的主機畫面。你必須明確按讀取，頁面分開標示本次取得時間與原始捕獲時間。舊資料與未知時間會提示，這些內容不會開放新的主機輸入。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素材狀態：actual</a:t>
            </a:r>
          </a:p>
          <a:p xmlns:a="http://schemas.openxmlformats.org/drawingml/2006/main">
            <a:r>
              <a:t>實際來源：context</a:t>
            </a:r>
          </a:p>
          <a:p xmlns:a="http://schemas.openxmlformats.org/drawingml/2006/main">
            <a:r>
              <a:t>reports/assets/nusa-demo-2026-10-04/live-evidence.json#apiReads</a:t>
            </a:r>
          </a:p>
          <a:p xmlns:a="http://schemas.openxmlformats.org/drawingml/2006/main">
            <a:r>
              <a:t>reports/assets/nusa-demo-2026-10-04/capture/scene-index.json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搜尋只在按下時傳送，最多兩百個傳送字元，不會自行截短你的查詢。詳情必須以時間、應用程式和標題核對；來源不足的資料不提供假詳情。可以取消或清除暫存，離頁與背景會撤下內容，也不會自動傳給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素材狀態：actual</a:t>
            </a:r>
          </a:p>
          <a:p xmlns:a="http://schemas.openxmlformats.org/drawingml/2006/main">
            <a:r>
              <a:t>實際來源：context_search</a:t>
            </a:r>
          </a:p>
          <a:p xmlns:a="http://schemas.openxmlformats.org/drawingml/2006/main">
            <a:r>
              <a:t>reports/assets/nusa-demo-2026-10-04/capture/scene-index.json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設定頁管理主機名稱、控制服務、憑證指紋與控制金鑰；欄位下方可以對照環境變數名稱。主機螢幕可能休眠，防休眠與無畫面喚醒可分別開關，操作偏好也能調整。這些是前景、有權限且符合條件的維護，不是無限制的背景自動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素材狀態：readonly</a:t>
            </a:r>
          </a:p>
          <a:p xmlns:a="http://schemas.openxmlformats.org/drawingml/2006/main">
            <a:r>
              <a:t>實際來源：來源程式與流程解說</a:t>
            </a:r>
          </a:p>
          <a:p xmlns:a="http://schemas.openxmlformats.org/drawingml/2006/main">
            <a:r>
              <a:t>reports/assets/nusa-demo-2026-10-04/live-evidence.json#wakeAttempts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兩種模型供應商分別保存模型、金鑰與雲端傳送同意，切換不會繼承另一家的同意。模型識別需自行選擇，並可查看官方清單。文字連線測試會先確認供應商與模型，可能產生用量；它不驗證圖像或主機操作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素材狀態：actual</a:t>
            </a:r>
          </a:p>
          <a:p xmlns:a="http://schemas.openxmlformats.org/drawingml/2006/main">
            <a:r>
              <a:t>實際來源：settings</a:t>
            </a:r>
          </a:p>
          <a:p xmlns:a="http://schemas.openxmlformats.org/drawingml/2006/main">
            <a:r>
              <a:t>reports/assets/nusa-demo-2026-10-04/capture/scene-index.json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秘密欄位留白是保留原值，要刪除必須另外選取；來源或背景改變會清掉未儲存的秘密。別的手機更新設定時，先保留草稿，重新載入才放棄。模型資訊不可用時要修正模型，不能把空白當成已經可執行。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素材狀態：readonly</a:t>
            </a:r>
          </a:p>
          <a:p xmlns:a="http://schemas.openxmlformats.org/drawingml/2006/main">
            <a:r>
              <a:t>實際來源：settings</a:t>
            </a:r>
          </a:p>
          <a:p xmlns:a="http://schemas.openxmlformats.org/drawingml/2006/main">
            <a:r>
              <a:t>reports/assets/nusa-demo-2026-10-04/capture/scene-index.json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診斷頁把手機連線、主機畫面、控制服務和模型設定分開呈現。工具能力可以明確重新探索，取消只取消這次等待；探索不讀歷史文字，不送鍵鼠，也不使用模型。只有真正探索到的能力，才啟用對應功能入口。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素材狀態：actual</a:t>
            </a:r>
          </a:p>
          <a:p xmlns:a="http://schemas.openxmlformats.org/drawingml/2006/main">
            <a:r>
              <a:t>實際來源：diagnostics_capabilities</a:t>
            </a:r>
          </a:p>
          <a:p xmlns:a="http://schemas.openxmlformats.org/drawingml/2006/main">
            <a:r>
              <a:t>reports/assets/nusa-demo-2026-10-04/capture/scene-index.json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已配對連線頁先手動讀取標籤、權限與時間，再確認指定連線後撤銷。撤銷自己的授權使用解除配對，單純移除本機資料則不宣稱遠端已撤銷。撤銷也無法收回已送出的主機動作，未知回應要先更新清單核對。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素材狀態：actual</a:t>
            </a:r>
          </a:p>
          <a:p xmlns:a="http://schemas.openxmlformats.org/drawingml/2006/main">
            <a:r>
              <a:t>實際來源：sessions_read</a:t>
            </a:r>
          </a:p>
          <a:p xmlns:a="http://schemas.openxmlformats.org/drawingml/2006/main">
            <a:r>
              <a:t>reports/assets/nusa-demo-2026-10-04/live-evidence.json#apiReads</a:t>
            </a:r>
          </a:p>
          <a:p xmlns:a="http://schemas.openxmlformats.org/drawingml/2006/main">
            <a:r>
              <a:t>reports/assets/nusa-demo-2026-10-04/capture/scene-index.json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近期授權拒絕頁提供本次服務啟動後的原因、操作分類與計數，不保留秘密、位置或請求內容；重啟就清空，不能取代持久稽核。這次展示的是現行應用程式與實驗室整合；量產硬體、影片串流、音訊與其他未實作功能仍不列為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素材狀態：actual</a:t>
            </a:r>
          </a:p>
          <a:p xmlns:a="http://schemas.openxmlformats.org/drawingml/2006/main">
            <a:r>
              <a:t>實際來源：security_read</a:t>
            </a:r>
          </a:p>
          <a:p xmlns:a="http://schemas.openxmlformats.org/drawingml/2006/main">
            <a:r>
              <a:t>reports/assets/nusa-demo-2026-10-04/live-evidence.json#apiReads</a:t>
            </a:r>
          </a:p>
          <a:p xmlns:a="http://schemas.openxmlformats.org/drawingml/2006/main">
            <a:r>
              <a:t>reports/assets/nusa-demo-2026-10-04/capture/scene-index.json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0fbb077abc44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d04298fa894d38" /><Relationship Type="http://schemas.openxmlformats.org/officeDocument/2006/relationships/slideLayout" Target="/ppt/slideLayouts/slideLayout1.xml" Id="Rdad8a251c85e41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d8a251c85e41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25749018042ef" /><Relationship Type="http://schemas.openxmlformats.org/officeDocument/2006/relationships/image" Target="/ppt/media/image.png" Id="R714be5962c274821" /><Relationship Type="http://schemas.openxmlformats.org/officeDocument/2006/relationships/notesSlide" Target="/ppt/notesSlides/notesSlide1.xml" Id="R2a42d0a27c8941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ed64e29064369" /><Relationship Type="http://schemas.openxmlformats.org/officeDocument/2006/relationships/image" Target="/ppt/media/image2.png" Id="R4d06aca753e54ddc" /><Relationship Type="http://schemas.openxmlformats.org/officeDocument/2006/relationships/notesSlide" Target="/ppt/notesSlides/notesSlide2.xml" Id="Rf3387806dce343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2b88e00264c25" /><Relationship Type="http://schemas.openxmlformats.org/officeDocument/2006/relationships/image" Target="/ppt/media/image3.png" Id="Rb028817c814e4527" /><Relationship Type="http://schemas.openxmlformats.org/officeDocument/2006/relationships/notesSlide" Target="/ppt/notesSlides/notesSlide3.xml" Id="R656303f9413646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d0fe5850f45c3" /><Relationship Type="http://schemas.openxmlformats.org/officeDocument/2006/relationships/notesSlide" Target="/ppt/notesSlides/notesSlide4.xml" Id="R026e0bf7e5414a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98f0e9575431e" /><Relationship Type="http://schemas.openxmlformats.org/officeDocument/2006/relationships/image" Target="/ppt/media/image4.png" Id="Rc0ec2a1de01e4a9b" /><Relationship Type="http://schemas.openxmlformats.org/officeDocument/2006/relationships/notesSlide" Target="/ppt/notesSlides/notesSlide5.xml" Id="R60727510b0c74f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1a58278be46b0" /><Relationship Type="http://schemas.openxmlformats.org/officeDocument/2006/relationships/image" Target="/ppt/media/image5.png" Id="Rb850b41caec749d0" /><Relationship Type="http://schemas.openxmlformats.org/officeDocument/2006/relationships/notesSlide" Target="/ppt/notesSlides/notesSlide6.xml" Id="R125e20fe509242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060b99e9d4378" /><Relationship Type="http://schemas.openxmlformats.org/officeDocument/2006/relationships/image" Target="/ppt/media/image6.png" Id="R177e10f9e2924c7f" /><Relationship Type="http://schemas.openxmlformats.org/officeDocument/2006/relationships/notesSlide" Target="/ppt/notesSlides/notesSlide7.xml" Id="R2a949bc3ef1144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aa792f26b4f55" /><Relationship Type="http://schemas.openxmlformats.org/officeDocument/2006/relationships/image" Target="/ppt/media/image7.png" Id="R9f55b65b0f304b28" /><Relationship Type="http://schemas.openxmlformats.org/officeDocument/2006/relationships/notesSlide" Target="/ppt/notesSlides/notesSlide8.xml" Id="R25256851fc624b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7ff8d3b1a479d" /><Relationship Type="http://schemas.openxmlformats.org/officeDocument/2006/relationships/image" Target="/ppt/media/image8.png" Id="R903bdcc082ce4d26" /><Relationship Type="http://schemas.openxmlformats.org/officeDocument/2006/relationships/notesSlide" Target="/ppt/notesSlides/notesSlide9.xml" Id="R32c693e4dbf346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5acd559ca4576" /><Relationship Type="http://schemas.openxmlformats.org/officeDocument/2006/relationships/image" Target="/ppt/media/image9.png" Id="R1669ea9dcd194bc4" /><Relationship Type="http://schemas.openxmlformats.org/officeDocument/2006/relationships/notesSlide" Target="/ppt/notesSlides/notesSlide10.xml" Id="R63815095977640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d5b37a6544452" /><Relationship Type="http://schemas.openxmlformats.org/officeDocument/2006/relationships/image" Target="/ppt/media/image10.png" Id="Raa5dacf2bac0450b" /><Relationship Type="http://schemas.openxmlformats.org/officeDocument/2006/relationships/notesSlide" Target="/ppt/notesSlides/notesSlide11.xml" Id="Rf48601c01a0d4d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712747d6943e2" /><Relationship Type="http://schemas.openxmlformats.org/officeDocument/2006/relationships/image" Target="/ppt/media/image11.png" Id="R3153a7e7fee74ac0" /><Relationship Type="http://schemas.openxmlformats.org/officeDocument/2006/relationships/notesSlide" Target="/ppt/notesSlides/notesSlide12.xml" Id="R246fe5172e414e1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f1ebe97ac475c" /><Relationship Type="http://schemas.openxmlformats.org/officeDocument/2006/relationships/image" Target="/ppt/media/image12.png" Id="R530d881a2d4d436c" /><Relationship Type="http://schemas.openxmlformats.org/officeDocument/2006/relationships/notesSlide" Target="/ppt/notesSlides/notesSlide13.xml" Id="Rf724f2c3f05f42b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74b81114e4547" /><Relationship Type="http://schemas.openxmlformats.org/officeDocument/2006/relationships/image" Target="/ppt/media/image13.png" Id="R794d4c47886743c1" /><Relationship Type="http://schemas.openxmlformats.org/officeDocument/2006/relationships/notesSlide" Target="/ppt/notesSlides/notesSlide14.xml" Id="R169d933af18c408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0c5d924164e94" /><Relationship Type="http://schemas.openxmlformats.org/officeDocument/2006/relationships/image" Target="/ppt/media/image14.png" Id="Rfec580ff2a8a4422" /><Relationship Type="http://schemas.openxmlformats.org/officeDocument/2006/relationships/notesSlide" Target="/ppt/notesSlides/notesSlide15.xml" Id="R41731aecc5e2455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73cbff88e4543" /><Relationship Type="http://schemas.openxmlformats.org/officeDocument/2006/relationships/notesSlide" Target="/ppt/notesSlides/notesSlide16.xml" Id="R2f7c5f4ff9c54be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f6e65cb0d44e3" /><Relationship Type="http://schemas.openxmlformats.org/officeDocument/2006/relationships/image" Target="/ppt/media/image15.png" Id="R537c53b7165a4954" /><Relationship Type="http://schemas.openxmlformats.org/officeDocument/2006/relationships/notesSlide" Target="/ppt/notesSlides/notesSlide17.xml" Id="R94251ed914214f0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3fddab237476c" /><Relationship Type="http://schemas.openxmlformats.org/officeDocument/2006/relationships/image" Target="/ppt/media/image16.png" Id="R3e7e70ded4254427" /><Relationship Type="http://schemas.openxmlformats.org/officeDocument/2006/relationships/notesSlide" Target="/ppt/notesSlides/notesSlide18.xml" Id="R298e9fd981bd448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0c7ae9770459c" /><Relationship Type="http://schemas.openxmlformats.org/officeDocument/2006/relationships/notesSlide" Target="/ppt/notesSlides/notesSlide19.xml" Id="R2e97ae607007497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ce70dd1064923" /><Relationship Type="http://schemas.openxmlformats.org/officeDocument/2006/relationships/notesSlide" Target="/ppt/notesSlides/notesSlide20.xml" Id="Rb78c79143f88452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5050824c74542" /><Relationship Type="http://schemas.openxmlformats.org/officeDocument/2006/relationships/notesSlide" Target="/ppt/notesSlides/notesSlide21.xml" Id="R4fad8ecf642a4ac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309ef89be400c" /><Relationship Type="http://schemas.openxmlformats.org/officeDocument/2006/relationships/image" Target="/ppt/media/image17.png" Id="R49571f5546294265" /><Relationship Type="http://schemas.openxmlformats.org/officeDocument/2006/relationships/notesSlide" Target="/ppt/notesSlides/notesSlide22.xml" Id="R56f22319b884445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972967fe14ba5" /><Relationship Type="http://schemas.openxmlformats.org/officeDocument/2006/relationships/notesSlide" Target="/ppt/notesSlides/notesSlide23.xml" Id="R98a3d36e4dc6485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0116090bd41ba" /><Relationship Type="http://schemas.openxmlformats.org/officeDocument/2006/relationships/image" Target="/ppt/media/image18.png" Id="R6a1a7b88a91445f0" /><Relationship Type="http://schemas.openxmlformats.org/officeDocument/2006/relationships/notesSlide" Target="/ppt/notesSlides/notesSlide24.xml" Id="R18a62c5d58e64f2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46e4ba83f4509" /><Relationship Type="http://schemas.openxmlformats.org/officeDocument/2006/relationships/image" Target="/ppt/media/image19.png" Id="Raa171a605251412b" /><Relationship Type="http://schemas.openxmlformats.org/officeDocument/2006/relationships/notesSlide" Target="/ppt/notesSlides/notesSlide25.xml" Id="R35bfcac606964fb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2479c9612476c" /><Relationship Type="http://schemas.openxmlformats.org/officeDocument/2006/relationships/image" Target="/ppt/media/image20.png" Id="Re936232671f44351" /><Relationship Type="http://schemas.openxmlformats.org/officeDocument/2006/relationships/notesSlide" Target="/ppt/notesSlides/notesSlide26.xml" Id="R6c864a9b67264ec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8e1ce62aa4094" /><Relationship Type="http://schemas.openxmlformats.org/officeDocument/2006/relationships/image" Target="/ppt/media/image21.png" Id="R85037d9d80a1444a" /><Relationship Type="http://schemas.openxmlformats.org/officeDocument/2006/relationships/notesSlide" Target="/ppt/notesSlides/notesSlide27.xml" Id="R9704f1ad176e4de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993a8a8c34a54" /><Relationship Type="http://schemas.openxmlformats.org/officeDocument/2006/relationships/image" Target="/ppt/media/image22.png" Id="R897ebeefca854735" /><Relationship Type="http://schemas.openxmlformats.org/officeDocument/2006/relationships/notesSlide" Target="/ppt/notesSlides/notesSlide28.xml" Id="R20fc37fd7d15480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376244d764124" /><Relationship Type="http://schemas.openxmlformats.org/officeDocument/2006/relationships/image" Target="/ppt/media/image23.png" Id="R669404cc48ab4218" /><Relationship Type="http://schemas.openxmlformats.org/officeDocument/2006/relationships/notesSlide" Target="/ppt/notesSlides/notesSlide29.xml" Id="R9e9fcdc3151d4ae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3e4307ce34aa8" /><Relationship Type="http://schemas.openxmlformats.org/officeDocument/2006/relationships/image" Target="/ppt/media/image24.png" Id="R7d080ed20c924232" /><Relationship Type="http://schemas.openxmlformats.org/officeDocument/2006/relationships/notesSlide" Target="/ppt/notesSlides/notesSlide30.xml" Id="R28b97972b7204a0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0426b13464249" /><Relationship Type="http://schemas.openxmlformats.org/officeDocument/2006/relationships/notesSlide" Target="/ppt/notesSlides/notesSlide31.xml" Id="R272d19cd68544b9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f1f7833fc4173" /><Relationship Type="http://schemas.openxmlformats.org/officeDocument/2006/relationships/image" Target="/ppt/media/image25.png" Id="Rb763b6d60a7449bc" /><Relationship Type="http://schemas.openxmlformats.org/officeDocument/2006/relationships/notesSlide" Target="/ppt/notesSlides/notesSlide32.xml" Id="Rfba05bcbfb6d41d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4ba08edcb47d8" /><Relationship Type="http://schemas.openxmlformats.org/officeDocument/2006/relationships/image" Target="/ppt/media/image26.png" Id="R6ca3f8cd880d4e0c" /><Relationship Type="http://schemas.openxmlformats.org/officeDocument/2006/relationships/notesSlide" Target="/ppt/notesSlides/notesSlide33.xml" Id="Rfe5b085d4f524c8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bb21d24d34fa3" /><Relationship Type="http://schemas.openxmlformats.org/officeDocument/2006/relationships/image" Target="/ppt/media/image27.png" Id="R4481d73cbae3465c" /><Relationship Type="http://schemas.openxmlformats.org/officeDocument/2006/relationships/notesSlide" Target="/ppt/notesSlides/notesSlide34.xml" Id="R73b4362fc971422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5b3313db14070" /><Relationship Type="http://schemas.openxmlformats.org/officeDocument/2006/relationships/image" Target="/ppt/media/image28.png" Id="R8af6530196b84459" /><Relationship Type="http://schemas.openxmlformats.org/officeDocument/2006/relationships/notesSlide" Target="/ppt/notesSlides/notesSlide35.xml" Id="R0bef8dc796be43d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6e313aaad4c23" /><Relationship Type="http://schemas.openxmlformats.org/officeDocument/2006/relationships/image" Target="/ppt/media/image29.png" Id="R114351c4aaee40d5" /><Relationship Type="http://schemas.openxmlformats.org/officeDocument/2006/relationships/notesSlide" Target="/ppt/notesSlides/notesSlide36.xml" Id="Rcb7428f3d71641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40308E-861C-487D-987F-40FD3FFC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認識產品與現場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ADC84-3CAB-4029-99EE-B7A8C4B9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主機監看與任務導覽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FF29D-FC8F-4992-BD6B-99BBF310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監看、操作、任務三個層次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32EFB-3D28-4329-9F2E-537928FE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實拍與功能圖解分別標示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02FA78-3784-4FC3-A44C-4151BC2B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本次App、真實Runner與真機導覽；乾淨主機文稿已獨立核對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2C98A-54B3-4927-BFAE-78D4E91D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01 / 36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4be5962c274821"/>
          <a:stretch xmlns:a="http://schemas.openxmlformats.org/drawingml/2006/main"/>
        </p:blipFill>
        <p:spPr>
          <a:xfrm xmlns:a="http://schemas.openxmlformats.org/drawingml/2006/main">
            <a:off x="12855071" y="628650"/>
            <a:ext cx="3741158" cy="809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114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7B74C-018B-4F3F-8F7F-51D594EB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認識產品與現場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AE126-1402-48DA-8FB8-C92DD6CC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App、Runner 與真機鏈路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FDA0A-4209-483F-AE1E-5F59253C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十九項工具／十二種能力已探索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2F0C88-3DDA-4BC5-B84A-534A2FE9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螢幕休眠→一次修飾鍵→真實新影像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95278-3825-4608-99B6-F95CA35F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真實App與Runner鏈路；NanoKVM是實驗室設備，架構部分以圖解說明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9E3C5-A6AE-4B60-876D-8A274942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02 / 36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6aca753e54ddc"/>
          <a:stretch xmlns:a="http://schemas.openxmlformats.org/drawingml/2006/main"/>
        </p:blipFill>
        <p:spPr>
          <a:xfrm xmlns:a="http://schemas.openxmlformats.org/drawingml/2006/main">
            <a:off x="12855071" y="628650"/>
            <a:ext cx="3741158" cy="809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630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20B120-239C-4B46-A49B-2A3C2C10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配對與授權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7D156-82A4-452F-8109-46E3239C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安全配對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34BBF-EECD-472F-ABA0-8D67467C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位址、憑證、一次性配對碼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CBB64-FD23-4942-816F-77F2EC8C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掃碼只是填入同一份配對資料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8DCE9-3AD8-413B-9B70-3F335BC1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正常App配對已完成；配對碼輸入階段未公開錄影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E277C-E4F1-42D1-8DB9-8E6E2F37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03 / 36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28817c814e4527"/>
          <a:stretch xmlns:a="http://schemas.openxmlformats.org/drawingml/2006/main"/>
        </p:blipFill>
        <p:spPr>
          <a:xfrm xmlns:a="http://schemas.openxmlformats.org/drawingml/2006/main">
            <a:off x="12855071" y="628650"/>
            <a:ext cx="3741158" cy="809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072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7C4559-549C-495C-8EAE-98281AF4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配對與授權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244AA-EEF7-4378-BE63-742CF7AA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配對中斷與續接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69F463-EB5C-47CA-BD49-FF6A1C0A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同一次授權續接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A7533-28F0-4346-B901-25FE10FB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取消等待、撤銷、本機忘記分開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B71D1-C94B-408D-87FB-4B79C253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原授權續接、撤銷與本機忘記為來源圖解，未在本次重演失敗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61192-1CE3-4B0D-A620-D6570BFC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04 / 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0CFD9-05F6-4A1B-AE8B-DBD061C2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0287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7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現行功能流程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12363450" y="2324100"/>
          <a:ext xmlns:a="http://schemas.openxmlformats.org/drawingml/2006/main" cx="485775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38200"/>
                <a:gridCol w="4019550"/>
              </a:tblGrid>
              <a:tr h="1190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95DCC2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01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EFF6F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保留原 Runner 與授權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</a:tr>
              <a:tr h="1190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95DCC2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EFF6F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核對配對未完成狀態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</a:tr>
              <a:tr h="1190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95DCC2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03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EFF6F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明確續接或撤銷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</a:tr>
              <a:tr h="1190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95DCC2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EFF6F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本機忘記另行確認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FB33E-1DBD-471C-B672-B53B7AD2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3723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來源已實作；本次未實演</a:t>
            </a:r>
          </a:p>
        </p:txBody>
      </p:sp>
    </p:spTree>
    <p:extLst>
      <p:ext uri="{BB962C8B-B14F-4D97-AF65-F5344CB8AC3E}">
        <p14:creationId xmlns:p14="http://schemas.microsoft.com/office/powerpoint/2010/main" val="16823369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0EEB9-6B21-4092-BFC7-608E25B9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配對與授權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FAB10-B705-4A35-88A2-002A3E48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手機授權與操作權限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3E292-8FAE-4B0D-A4E6-D35DA7F5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四種權限各自生效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78D40-57CA-4ECF-BB64-C62EAE4D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失效授權撤下私有資料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59FA6-BC0D-4D5E-8EA2-FE5E6A69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本次手機四種授權與到期時間可見；受限及到期流程為來源解說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FDAE0-B066-486D-8273-D2A71B6D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05 / 36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c2a1de01e4a9b"/>
          <a:stretch xmlns:a="http://schemas.openxmlformats.org/drawingml/2006/main"/>
        </p:blipFill>
        <p:spPr>
          <a:xfrm xmlns:a="http://schemas.openxmlformats.org/drawingml/2006/main">
            <a:off x="12855071" y="628650"/>
            <a:ext cx="3741158" cy="809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3124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2188E-340F-4FFD-AF70-DC82C221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監看與恢復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9F673-BAF2-4F7A-9906-44AB6659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畫面與新鮮度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48900-1FAC-4624-AFCB-FE3A2290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醒機後取得2560×1440新影像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75975-73C4-441A-A8BF-17691766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唯讀縮放與全螢幕；舊畫面不開放輸入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1DDD7-F543-4ED9-BF31-EDFFF023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乾淨TextEdit真實新影像；App唯讀全螢幕與縮放實拍，非生成畫面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AA2BC-2FE9-4DEB-8380-646653DC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06 / 36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0b41caec749d0"/>
          <a:stretch xmlns:a="http://schemas.openxmlformats.org/drawingml/2006/main"/>
        </p:blipFill>
        <p:spPr>
          <a:xfrm xmlns:a="http://schemas.openxmlformats.org/drawingml/2006/main">
            <a:off x="12855071" y="628650"/>
            <a:ext cx="3741158" cy="809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6571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3CB9A-71B4-43A1-B089-D8EF6DB4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監看與恢復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58FA8-47A1-4A23-BBC1-D8D4427C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截圖同步頻率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E649E-89ED-458D-8897-1576CC41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截圖同步，不是影片串流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C7C10-A107-4DD4-8402-6386D859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要求不重疊，背景停止新讀取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F562C-EC75-428D-8C97-D705013B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本次一秒截圖同步與時間標示可見；其他頻率為來源解說，非串流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453E6-B25A-44C2-8857-7D514E27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07 / 36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e10f9e2924c7f"/>
          <a:stretch xmlns:a="http://schemas.openxmlformats.org/drawingml/2006/main"/>
        </p:blipFill>
        <p:spPr>
          <a:xfrm xmlns:a="http://schemas.openxmlformats.org/drawingml/2006/main">
            <a:off x="12855071" y="628650"/>
            <a:ext cx="3741158" cy="809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4066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7154E-615F-4502-BDA3-7DC6C664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監看與恢復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F5717-0A3D-4496-A041-CF58AC0F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影像異常與恢復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3CA29-AD24-4C58-A0EC-8E5EA835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本次：修飾鍵醒機後取圖恢復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4088A-4268-4F60-84BE-DE7A0939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讀取重試與授權喚醒是不同操作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14781-73A9-47F6-ADA6-641D449C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初次取圖失敗與授權醒機是真實先前證據；分層重試政策為來源解說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08060-651D-420A-88C6-4545E2F5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08 / 36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55b65b0f304b28"/>
          <a:stretch xmlns:a="http://schemas.openxmlformats.org/drawingml/2006/main"/>
        </p:blipFill>
        <p:spPr>
          <a:xfrm xmlns:a="http://schemas.openxmlformats.org/drawingml/2006/main">
            <a:off x="12855071" y="628650"/>
            <a:ext cx="3741158" cy="809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7863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78FE2-9C9D-4E54-B2EC-4D587694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手動操作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2938AD-7AE4-49B5-BF30-34EFA999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畫面指標操作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BB060-026B-48A2-8B46-8EDB1ED3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能力存在才顯示進階點擊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5662D-7A2E-4A73-99E5-A9C03D83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主機內容已遮蔽；此頁控制未實送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5ACC0-B9C7-4751-B779-B702B801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App指標控制頁實拍，主機內容已遮蔽；未以App發送點擊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925D1-3CC1-46DD-B31E-853B9DF6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09 / 36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3bdcc082ce4d26"/>
          <a:stretch xmlns:a="http://schemas.openxmlformats.org/drawingml/2006/main"/>
        </p:blipFill>
        <p:spPr>
          <a:xfrm xmlns:a="http://schemas.openxmlformats.org/drawingml/2006/main">
            <a:off x="12855071" y="628650"/>
            <a:ext cx="3741158" cy="809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8563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480B5-DB47-41AB-B7BC-70F265AE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手動操作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AADD1-E7A8-422E-AD88-62E55BA7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鍵盤與開機快捷鍵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DCD5E-84A7-4B9A-8BCE-8E13ACFB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分組快捷鍵，一次送出一組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51F70-C28C-4805-BF40-475E548C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開機按鍵依主機而異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A427B-C546-4330-B1E3-8FA3AE62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App快捷鍵頁實拍；按鍵用途為來源解說，未逐一執行開機快捷鍵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F12EE-81FF-4F0A-B3F5-0C98629B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10 / 36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9ea9dcd194bc4"/>
          <a:stretch xmlns:a="http://schemas.openxmlformats.org/drawingml/2006/main"/>
        </p:blipFill>
        <p:spPr>
          <a:xfrm xmlns:a="http://schemas.openxmlformats.org/drawingml/2006/main">
            <a:off x="12855071" y="628650"/>
            <a:ext cx="3741158" cy="809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2034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62B238-1114-49F2-95C1-DDB6F680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手動操作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6D895-F890-41CA-BB19-2C82AEA2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文字輸入與送出確認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2C5D9-DF4A-48B2-903D-7A14D9DA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App公開文字已在真實主機新圖核對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8718B-164E-4376-87F0-FA786569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文字與確認鍵分開；四千傳送字元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E341EC-D41F-406C-A295-253ECF2B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App送出一段公開文字；派送回應與真機新畫面已獨立核對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23A2A-A33F-446F-8700-C5A53CD1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11 / 36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dacf2bac0450b"/>
          <a:stretch xmlns:a="http://schemas.openxmlformats.org/drawingml/2006/main"/>
        </p:blipFill>
        <p:spPr>
          <a:xfrm xmlns:a="http://schemas.openxmlformats.org/drawingml/2006/main">
            <a:off x="12855071" y="628650"/>
            <a:ext cx="3741158" cy="809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1468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AD79A-C236-4174-9EBE-14B30746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手動操作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67F0D-24CF-4108-9B38-604A2DB8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捲動與指標微調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D3B55-A585-4EC4-BB95-ED72BCF3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上下捲動與離散微調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456EA-4876-4F8B-9C41-6F324633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主機內容已遮蔽；此頁控制未實送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E8328-C3F3-486E-B23C-AF3B145F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App捲動與指標微調頁實拍，主機內容已遮蔽；未執行全部選項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28933D-885D-4DE9-97ED-2782B665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12 / 36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53a7e7fee74ac0"/>
          <a:stretch xmlns:a="http://schemas.openxmlformats.org/drawingml/2006/main"/>
        </p:blipFill>
        <p:spPr>
          <a:xfrm xmlns:a="http://schemas.openxmlformats.org/drawingml/2006/main">
            <a:off x="12855071" y="628650"/>
            <a:ext cx="3741158" cy="809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684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431AFC-CB73-428C-81AE-D7AD1DDE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人工智慧任務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1805B-0758-4CD8-BD23-F4810D65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自然語言任務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6854E-4DF3-4925-A110-BE462A78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真實服務：一次純觀察完成回覆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8FD52-AF41-4C1D-B107-9E771576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手機：目標／模式／核對入口實拍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54204-1717-4628-B486-63E0AFC6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真實服務啟動一次OpenAI純觀察；App目標與模式頁實拍，未冒充UI啟動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64656-7C8A-4AD7-BA59-803E537C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13 / 36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0d881a2d4d436c"/>
          <a:stretch xmlns:a="http://schemas.openxmlformats.org/drawingml/2006/main"/>
        </p:blipFill>
        <p:spPr>
          <a:xfrm xmlns:a="http://schemas.openxmlformats.org/drawingml/2006/main">
            <a:off x="12855071" y="628650"/>
            <a:ext cx="3741158" cy="809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6137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0B0F1C-4441-47F7-B684-4734D35E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人工智慧任務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4A06E-BABE-432A-81C3-C6651B98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任務模型與限制摘要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8325C-464C-41E1-B280-DA20506E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按下時固定主機與模型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5FF5E-A255-4F6B-98B7-CCA4C656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次數與時間限制，不是費用保證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99400-C737-4371-99D0-6A1C8F3B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App開始前模型與限制摘要實拍，未按下啟動；API任務原始限制另存詳情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1187B7-E739-4858-B486-714FF373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14 / 36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4d4c47886743c1"/>
          <a:stretch xmlns:a="http://schemas.openxmlformats.org/drawingml/2006/main"/>
        </p:blipFill>
        <p:spPr>
          <a:xfrm xmlns:a="http://schemas.openxmlformats.org/drawingml/2006/main">
            <a:off x="12855071" y="628650"/>
            <a:ext cx="3741158" cy="809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9579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D2CE6-3BB5-40F3-B5C0-2A4BFCDC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人工智慧任務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3523D-5B7E-4C72-B3B3-748E13E9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快速任務範本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BADDD-5181-4A53-98E2-3652E083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五種既定目標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567AE-092F-4C18-8846-DFD9E896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範本不放寬授權與核准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3E4B6-A7F6-4AD0-8D1D-A2D7D210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快速任務範本為來源解說；乾淨主機頁作本次實拍背景，未逐一執行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38DEE4-AE9A-46C7-8B28-75AA620A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15 / 36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c580ff2a8a4422"/>
          <a:stretch xmlns:a="http://schemas.openxmlformats.org/drawingml/2006/main"/>
        </p:blipFill>
        <p:spPr>
          <a:xfrm xmlns:a="http://schemas.openxmlformats.org/drawingml/2006/main">
            <a:off x="12855071" y="628650"/>
            <a:ext cx="3741158" cy="809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8221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45024-B919-4E03-9D89-8CB9D790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人工智慧任務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07C05-5349-40AA-8101-1B23B99D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測試平台上架流程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C05F9-385C-490F-9DBD-F26D871C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分段進度與待處理事項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73A07-78BC-4EAC-B687-E57012B6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畫面判讀不冒稱平台認證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F99BA-4D39-47C8-862E-6581C49D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測試平台上架流程為來源圖解；本次未登入網站或完成上架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325CB-76A5-45CE-89BA-AAA2C8C7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16 / 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5E675-BA04-4C4C-A547-BC0E6DA5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0287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7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現行功能流程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12363450" y="2324100"/>
          <a:ext xmlns:a="http://schemas.openxmlformats.org/drawingml/2006/main" cx="485775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38200"/>
                <a:gridCol w="4019550"/>
              </a:tblGrid>
              <a:tr h="1190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95DCC2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01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EFF6F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主機檢查與快速登入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</a:tr>
              <a:tr h="1190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95DCC2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EFF6F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安裝與引擎準備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</a:tr>
              <a:tr h="1190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95DCC2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03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EFF6F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認證、定價與上架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</a:tr>
              <a:tr h="1190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95DCC2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EFF6F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Ready to rent 畫面核對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EC06E-73A6-4649-A212-16FCBA64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3723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來源已實作；本次未實演</a:t>
            </a:r>
          </a:p>
        </p:txBody>
      </p:sp>
    </p:spTree>
    <p:extLst>
      <p:ext uri="{BB962C8B-B14F-4D97-AF65-F5344CB8AC3E}">
        <p14:creationId xmlns:p14="http://schemas.microsoft.com/office/powerpoint/2010/main" val="168057199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EFC86-BCCE-4CCA-827B-C2BFC5C4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人工智慧任務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8920C-5E83-4B7D-8EEC-9486CFAC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常用指令與工作流程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37194-5FB4-401B-B383-DA8836C8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本機新增、編輯、刪除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6AC6C-4109-4ABF-A1C7-1C1ACC33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觀察用途文字；沒有執行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11F0C-C911-4D6F-AB3E-4F81C14E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本機觀察用途文字範本新增、編輯、刪除實拍；模式開關未核對，沒有執行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873C9-E0D4-4B60-A33F-03AEABA8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17 / 36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7c53b7165a4954"/>
          <a:stretch xmlns:a="http://schemas.openxmlformats.org/drawingml/2006/main"/>
        </p:blipFill>
        <p:spPr>
          <a:xfrm xmlns:a="http://schemas.openxmlformats.org/drawingml/2006/main">
            <a:off x="12855071" y="628650"/>
            <a:ext cx="3741158" cy="809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972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5C9B34-B08F-4E39-B509-5B0F5BE6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人工智慧任務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C9DF0-8142-4B60-85C5-9D804D5A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任務進度與原始預算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3DCB1-5518-4393-83B4-4587CE78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先前：取圖受阻／零模型請求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30BC42-E9A3-4221-B0BC-69A2B865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後續：一次觀察／已知用量3,544 tokens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23809-6C9B-4E3E-96FA-3D56F6CC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先前零請求受阻與後續一次請求完成是兩筆真實任務；本段為免費讀取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86938-C418-4DD1-A360-29E8CD5A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18 / 36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7e70ded4254427"/>
          <a:stretch xmlns:a="http://schemas.openxmlformats.org/drawingml/2006/main"/>
        </p:blipFill>
        <p:spPr>
          <a:xfrm xmlns:a="http://schemas.openxmlformats.org/drawingml/2006/main">
            <a:off x="12855071" y="628650"/>
            <a:ext cx="3741158" cy="809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82733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567DD-0D85-4680-8D68-EE46563F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人工智慧任務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8B7CD-3825-4142-93EB-687E9434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操作核准與拒絕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C7782-2C73-445F-9E42-0F98AAA1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逐次核准，不是全權放行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18128-C492-4DFF-BCCF-221842B4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過期或畫面變化要重新核對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FCCE9-6516-47F3-B357-589D016C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操作預覽、核准與拒絕為來源圖解；本次沒有代理操作核准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AF0E5C-C698-41A5-A114-3DB48345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19 / 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D1AE5-E670-4C06-89D1-AE539816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0287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7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現行功能流程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12363450" y="2324100"/>
          <a:ext xmlns:a="http://schemas.openxmlformats.org/drawingml/2006/main" cx="485775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38200"/>
                <a:gridCol w="4019550"/>
              </a:tblGrid>
              <a:tr h="1190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95DCC2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01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EFF6F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核對目前畫面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</a:tr>
              <a:tr h="1190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95DCC2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EFF6F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檢視操作與原始內容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</a:tr>
              <a:tr h="1190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95DCC2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03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EFF6F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明確核准或拒絕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</a:tr>
              <a:tr h="1190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95DCC2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EFF6F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派送後重新觀察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B79BE-E1A3-446F-812E-42865BC1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3723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來源已實作；本次未實演</a:t>
            </a:r>
          </a:p>
        </p:txBody>
      </p:sp>
    </p:spTree>
    <p:extLst>
      <p:ext uri="{BB962C8B-B14F-4D97-AF65-F5344CB8AC3E}">
        <p14:creationId xmlns:p14="http://schemas.microsoft.com/office/powerpoint/2010/main" val="115006868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40099-A241-46F3-A677-92BC0CB2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人工智慧任務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245BD-6467-4381-A98B-1FB32DD3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安全代填與逐次核准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3F767-D292-4714-9754-351EBCBA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秘密不直接交給模型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5D20C-D6AA-4F26-8CD5-2D640A3D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代填核對用途與當前畫面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67B89-8B7B-401D-B575-55FE38FE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使用者授權的lab系統登入已完成；App逐次核准代填仍為來源圖解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714BD-7929-494A-BE33-43E58065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20 / 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340F5-103C-4740-848C-FD493CC9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0287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7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現行功能流程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12363450" y="2324100"/>
          <a:ext xmlns:a="http://schemas.openxmlformats.org/drawingml/2006/main" cx="485775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38200"/>
                <a:gridCol w="4019550"/>
              </a:tblGrid>
              <a:tr h="1190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95DCC2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01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EFF6F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明確啟用安全代填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</a:tr>
              <a:tr h="1190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95DCC2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EFF6F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核對用途與目前畫面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</a:tr>
              <a:tr h="1190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95DCC2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03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EFF6F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逐次核准這次代填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</a:tr>
              <a:tr h="1190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95DCC2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EFF6F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服務派送後觀察結果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E5AA8-BC49-4CF2-BFB1-2E82BF65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3723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來源已實作；本次未實演</a:t>
            </a:r>
          </a:p>
        </p:txBody>
      </p:sp>
    </p:spTree>
    <p:extLst>
      <p:ext uri="{BB962C8B-B14F-4D97-AF65-F5344CB8AC3E}">
        <p14:creationId xmlns:p14="http://schemas.microsoft.com/office/powerpoint/2010/main" val="171429364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34506C-A5B4-4B63-B64D-2E2FC03C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人工智慧任務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95661-B60A-4C65-86CC-53C83123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接手與明確續跑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7229E-002A-4351-83A8-087BD2C0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接手與續跑是明確決定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18F4D7-F79A-420F-ACD0-6FBB72FF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取消等待不撤銷已提交動作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8AA8D-148B-45D3-902C-1717F73F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接手與續跑為來源圖解；本次模型任務只有純觀察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66C52-8A29-4FE6-ACA2-A20A5C47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21 / 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C232D0-911F-41DE-8C4D-18A81798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0287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7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現行功能流程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12363450" y="2324100"/>
          <a:ext xmlns:a="http://schemas.openxmlformats.org/drawingml/2006/main" cx="485775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38200"/>
                <a:gridCol w="4019550"/>
              </a:tblGrid>
              <a:tr h="1190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95DCC2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01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EFF6F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接手後暫停 AI 操作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</a:tr>
              <a:tr h="1190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95DCC2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EFF6F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手動操作需要新畫面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</a:tr>
              <a:tr h="1190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95DCC2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03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EFF6F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核對用量與續跑資格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</a:tr>
              <a:tr h="1190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95DCC2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EFF6F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明確要求恢復任務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DAAA2-FB12-4DC8-8615-CF5FB92D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3723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來源已實作；本次未實演</a:t>
            </a:r>
          </a:p>
        </p:txBody>
      </p:sp>
    </p:spTree>
    <p:extLst>
      <p:ext uri="{BB962C8B-B14F-4D97-AF65-F5344CB8AC3E}">
        <p14:creationId xmlns:p14="http://schemas.microsoft.com/office/powerpoint/2010/main" val="61649471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6C7D0-98B2-4F2F-93D4-F75AB9E0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人工智慧任務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29B00-13B2-4009-A89B-DAD78AE4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停止確認與未知結果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B97CF-9BDE-4B6B-B1C0-F787D0B7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本次停止由服務確認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FAF36-DF00-4B5F-B699-4A2A22E3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未知結果：核對與重新要求分開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323BC-A643-4094-8B93-3CEFA6B2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先前真實任務停止已獲服務確認；主機內容已遮蔽，跨頁按鈕及未知回復為來源解說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82E10-CD21-484E-B1F8-6840A8FA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22 / 36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571f5546294265"/>
          <a:stretch xmlns:a="http://schemas.openxmlformats.org/drawingml/2006/main"/>
        </p:blipFill>
        <p:spPr>
          <a:xfrm xmlns:a="http://schemas.openxmlformats.org/drawingml/2006/main">
            <a:off x="12855071" y="628650"/>
            <a:ext cx="3741158" cy="809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90827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B8209A-BCAA-4081-A25D-C6C7A0BE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人工智慧任務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531EE-EA1A-4B62-8760-9297B312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任務啟動核對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60DE1-05C4-44DB-8758-67E88B48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先核對原要求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843EA-CF0F-4AB3-9581-3E384E65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本機關閉提示不代表遠端停止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08290-FD03-401A-8B65-F564E0B3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原啟動要求核對與未知恢復為來源圖解；本次沒有重演回應遺失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54814-7FEF-4BED-9AF6-265FFE58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23 / 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EA8D1-F46E-4611-A916-44AEC43A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0287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7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現行功能流程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12363450" y="2324100"/>
          <a:ext xmlns:a="http://schemas.openxmlformats.org/drawingml/2006/main" cx="485775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38200"/>
                <a:gridCol w="4019550"/>
              </a:tblGrid>
              <a:tr h="1190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95DCC2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01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EFF6F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保留原要求與識別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</a:tr>
              <a:tr h="1190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95DCC2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EFF6F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讀取原任務核對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</a:tr>
              <a:tr h="1190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95DCC2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03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EFF6F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未知時保留原要求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</a:tr>
              <a:tr h="1190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95DCC2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EFF6F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依重試保障明確核對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04931-1D3D-4623-BD2E-31231563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3723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來源已實作；本次未實演</a:t>
            </a:r>
          </a:p>
        </p:txBody>
      </p:sp>
    </p:spTree>
    <p:extLst>
      <p:ext uri="{BB962C8B-B14F-4D97-AF65-F5344CB8AC3E}">
        <p14:creationId xmlns:p14="http://schemas.microsoft.com/office/powerpoint/2010/main" val="50634578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79FF2-E747-47C2-8BD4-F28C7438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歷史與報告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F3780-CBB5-45B5-9AC1-7310D8D6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歷史搜尋與精確任務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EB6CA-D5F9-4558-AEA2-C53835BE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真實已停止任務與歷史搜尋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6FA02-9F78-49D2-B36B-4C9B118C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已載入／符合／全部數量分開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AD4BE-2889-4F2B-8190-3B358678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真實已停止及已完成任務歷史實拍；分頁與完整搜尋規則為來源解說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64AAD3-BB2A-42B8-AA49-EE6D6AE7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24 / 36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a7b88a91445f0"/>
          <a:stretch xmlns:a="http://schemas.openxmlformats.org/drawingml/2006/main"/>
        </p:blipFill>
        <p:spPr>
          <a:xfrm xmlns:a="http://schemas.openxmlformats.org/drawingml/2006/main">
            <a:off x="12855071" y="628650"/>
            <a:ext cx="3741158" cy="809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76950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78018-21B9-4A7D-9893-66DCDFD7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歷史與報告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02AA0-D73C-46EB-884B-9E1DCACD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歷史清除與保留規則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D96ED-8D97-4F62-BC43-22847130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清除前確認；本次取消要求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1FBC5-DDED-4406-939F-F8A5C1B0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未結束與待結算紀錄保留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76AFB-BBDB-43D4-A4D0-DCC585D8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真實清除確認頁已開啟並取消；沒有刪除歷史或未結算紀錄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7C7A6-DDAE-474B-B90A-FEB614F7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25 / 36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71a605251412b"/>
          <a:stretch xmlns:a="http://schemas.openxmlformats.org/drawingml/2006/main"/>
        </p:blipFill>
        <p:spPr>
          <a:xfrm xmlns:a="http://schemas.openxmlformats.org/drawingml/2006/main">
            <a:off x="12855071" y="628650"/>
            <a:ext cx="3741158" cy="809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7663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534B6B-5F52-4427-8240-23649ECE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歷史與報告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31B422-707E-45C8-9056-18FEB109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操作收據與派送結果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B103B-E755-4642-939B-F61F52C8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真實醒機與前景維護操作收據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40D21-203E-4821-8FDF-B40F2B18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派送回應／未知／後續觀察分開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C8043-3363-4319-8D12-0B482507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真實App文字與前景維護的無輸入內容收據；sent只代表派送回應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7656B-AAE7-4BC6-BF16-E7EA8292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26 / 36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36232671f44351"/>
          <a:stretch xmlns:a="http://schemas.openxmlformats.org/drawingml/2006/main"/>
        </p:blipFill>
        <p:spPr>
          <a:xfrm xmlns:a="http://schemas.openxmlformats.org/drawingml/2006/main">
            <a:off x="12855071" y="628650"/>
            <a:ext cx="3741158" cy="809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01642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1C7FC-9109-4CB7-AF34-296F39F4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歷史與報告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FCD14-AA75-40B6-80D8-374EF559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任務文字報告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B66F0-AEE0-41B6-8C57-A4B17B19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真實受阻／完成任務的文字報告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92FD5-88ED-406F-874E-36C7A390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摘要預設，事件須明確另選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14847-4D8C-4340-B111-BB03BA91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免費報告預覽與明確事件選取實拍；成功純觀察任務報告另有真實素材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A292B-E1FD-4A40-BA6D-FD648CFA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27 / 36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37d9d80a1444a"/>
          <a:stretch xmlns:a="http://schemas.openxmlformats.org/drawingml/2006/main"/>
        </p:blipFill>
        <p:spPr>
          <a:xfrm xmlns:a="http://schemas.openxmlformats.org/drawingml/2006/main">
            <a:off x="12855071" y="628650"/>
            <a:ext cx="3741158" cy="809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6649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DF2E1-3018-4158-85BB-608C72C5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歷史與報告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B538E-2A88-498E-A5B2-AD542F99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報告預覽、分享與存檔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924E9-EEB1-4B9C-A052-343FFBEE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使用者啟動分享與純文字存檔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385CC-011B-4D5B-B8D2-528F3E95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外部內容沒有撤回保證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A62D4-2806-4DD1-8841-308A4E32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真實報告預覽與分享入口可見；本次未操作系統分享或存檔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C0FD7-4A42-4FD9-8CF4-1C0625A0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28 / 36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7ebeefca854735"/>
          <a:stretch xmlns:a="http://schemas.openxmlformats.org/drawingml/2006/main"/>
        </p:blipFill>
        <p:spPr>
          <a:xfrm xmlns:a="http://schemas.openxmlformats.org/drawingml/2006/main">
            <a:off x="12855071" y="628650"/>
            <a:ext cx="3741158" cy="809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90802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F75DB-C960-41EF-9796-8EEF2D74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歷史文字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132A6-723A-480B-AFDB-BAAAAB65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既有畫面與歷史文字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061637-096D-42E4-85DE-3554783B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既有歷史觀察；取得時間與來源時間分開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01F75-C03F-47B9-A4E0-2FF5FBD6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歷史文字不代替現在的主機畫面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515A5-6712-4C69-8287-813577CB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歷史文字入口實拍；App沒有讀取OCR內容，實際API查核另列證據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E3026-30E0-4D93-8D3C-85BDBBD8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29 / 36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404cc48ab4218"/>
          <a:stretch xmlns:a="http://schemas.openxmlformats.org/drawingml/2006/main"/>
        </p:blipFill>
        <p:spPr>
          <a:xfrm xmlns:a="http://schemas.openxmlformats.org/drawingml/2006/main">
            <a:off x="12855071" y="628650"/>
            <a:ext cx="3741158" cy="809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7020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6AC9B-7A2C-4AF4-8C7D-B1FBAD39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歷史文字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EAFBC-8BC9-4232-A9E1-E03BE98D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歷史文字搜尋與詳情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ED745-13B3-44E8-BCA9-5AAED1D6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明確搜尋，精確核對詳情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87D16-968F-4ECE-9DCC-8EF3862D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取消、清除與離頁暫存清理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AC139-E4AA-4136-ADF7-1A537056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歷史文字搜尋控制頁實拍；App未查詢或開啟私人OCR詳情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A6CFF-5C96-458C-ABFD-39EF705C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30 / 36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080ed20c924232"/>
          <a:stretch xmlns:a="http://schemas.openxmlformats.org/drawingml/2006/main"/>
        </p:blipFill>
        <p:spPr>
          <a:xfrm xmlns:a="http://schemas.openxmlformats.org/drawingml/2006/main">
            <a:off x="12855071" y="628650"/>
            <a:ext cx="3741158" cy="809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68457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8E864-EA8F-4F88-86D5-083B531C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設定、診斷與管理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C0C57-AE10-4BB9-8A74-0A9D03F2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控制服務與前景維護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B781A-4CD2-4C51-A90D-EBC950AA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連線與前景維護分開設定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F388C-5C53-45A0-A595-CFDA0DE6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免費連線核對不使用模型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D6A87-770F-4A89-ACF9-41421996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控制服務與維護偏好為來源解說；防休眠及醒機已依使用者授權啟用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B74EB-3F29-4E90-BCF6-05274441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31 / 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81B2B-3495-46E5-8C5F-EF3362AB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0287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7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現行功能流程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12363450" y="2324100"/>
          <a:ext xmlns:a="http://schemas.openxmlformats.org/drawingml/2006/main" cx="485775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38200"/>
                <a:gridCol w="4019550"/>
              </a:tblGrid>
              <a:tr h="1190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95DCC2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01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EFF6F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控制服務與主機設定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</a:tr>
              <a:tr h="1190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95DCC2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EFF6F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前景防休眠偏好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</a:tr>
              <a:tr h="1190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95DCC2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03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EFF6F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授權無畫面時喚醒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</a:tr>
              <a:tr h="1190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95DCC2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>
                          <a:solidFill>
                            <a:srgbClr val="EFF6F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背景停止新維護</a:t>
                      </a:r>
                    </a:p>
                  </a:txBody>
                  <a:tcPr marL="91440" marR="91440" marT="45720" marB="45720">
                    <a:solidFill>
                      <a:srgbClr val="081B19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F054F2-F70A-48FD-8519-41598A4C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3723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已保留授權偏好；維護流程圖解</a:t>
            </a:r>
          </a:p>
        </p:txBody>
      </p:sp>
    </p:spTree>
    <p:extLst>
      <p:ext uri="{BB962C8B-B14F-4D97-AF65-F5344CB8AC3E}">
        <p14:creationId xmlns:p14="http://schemas.microsoft.com/office/powerpoint/2010/main" val="174574687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4B8EEA-D217-45AA-A7BA-1CCB2677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設定、診斷與管理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5A4CF5-E844-449D-94A8-EDE6775B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自帶金鑰與供應商同意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3C645-9DAB-43E8-A498-816F73C2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OpenAI已做一次純觀察；Claude未呼叫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50630B-D4B9-431A-BD37-0F794351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獨立金鑰、模型與畫面傳送同意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E50AC-0702-463E-AED7-CDA5CDF6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OpenAI欄位實拍且單次純觀察已完成；Claude表單及文字測試未實演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FB6F0-22E0-447D-BF65-697DAF4A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32 / 36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3b6d60a7449bc"/>
          <a:stretch xmlns:a="http://schemas.openxmlformats.org/drawingml/2006/main"/>
        </p:blipFill>
        <p:spPr>
          <a:xfrm xmlns:a="http://schemas.openxmlformats.org/drawingml/2006/main">
            <a:off x="12855071" y="628650"/>
            <a:ext cx="3741158" cy="809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72992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88F18C-3CF7-4AD0-A67A-66F440DB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設定、診斷與管理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E40D1-09E3-461A-8D69-DC80C2FE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設定變更與版本保護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81375-3852-4D89-ACF6-A1238688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留白保留，刪除另行選取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8CBCA-7033-4305-8D70-57D84278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版本衝突先保留草稿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24768-532A-4BA4-9478-1D05E414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秘密及版本保護為來源解說；只有空白供應商欄位實拍，未送出新秘密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BDBF1-A07E-4E29-94C3-587E8B3B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33 / 36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a3f8cd880d4e0c"/>
          <a:stretch xmlns:a="http://schemas.openxmlformats.org/drawingml/2006/main"/>
        </p:blipFill>
        <p:spPr>
          <a:xfrm xmlns:a="http://schemas.openxmlformats.org/drawingml/2006/main">
            <a:off x="12855071" y="628650"/>
            <a:ext cx="3741158" cy="809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05333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18913-2A08-4786-A516-0FA428B3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設定、診斷與管理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6A6A9-81D9-495C-A3B5-A0EF49F1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連線診斷與裝置能力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974E9-B391-45FB-83C9-F891372B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連線、畫面、模型分層核對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AF49F-8ABD-4D1F-BD2A-F5DE84E0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工具探索不使用模型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56FB3-8985-42C6-B4B7-2B362082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真實HTTPS Runner、可用影像與能力資料實拍；沒有付費連線測試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7D7B2-478C-4BB6-BC6D-1115F0BA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34 / 36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1d73cbae3465c"/>
          <a:stretch xmlns:a="http://schemas.openxmlformats.org/drawingml/2006/main"/>
        </p:blipFill>
        <p:spPr>
          <a:xfrm xmlns:a="http://schemas.openxmlformats.org/drawingml/2006/main">
            <a:off x="12855071" y="628650"/>
            <a:ext cx="3741158" cy="809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98166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55C77-D932-4D86-A419-B86F6302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設定、診斷與管理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10DF84-8941-468B-B2A5-BC0347D9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配對連線與撤銷管理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5E9A9-4BFF-4791-B05C-FB24A78C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目前與其他配對連線分開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2587E-85E1-4905-B071-59698C32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撤銷指定連線需明確確認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DD23C-4B9C-45AF-9EE2-ED01CBAD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本次已配對連線資料已明確讀取；未撤銷或修改授權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1268B-B986-4EBD-B625-22E1F487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35 / 36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6530196b84459"/>
          <a:stretch xmlns:a="http://schemas.openxmlformats.org/drawingml/2006/main"/>
        </p:blipFill>
        <p:spPr>
          <a:xfrm xmlns:a="http://schemas.openxmlformats.org/drawingml/2006/main">
            <a:off x="12855071" y="628650"/>
            <a:ext cx="3741158" cy="809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66578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8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8A0A8-A3E9-43A9-A021-5BAD22B4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95DCC2"/>
                </a:solidFill>
                <a:latin typeface="PingFang TC"/>
                <a:ea typeface="PingFang TC"/>
                <a:cs typeface="PingFang TC"/>
              </a:rPr>
              <a:t>NusaKVM   設定、診斷與管理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3ED98-10BC-405B-A135-9CC03957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EFF6F1"/>
                </a:solidFill>
                <a:latin typeface="PingFang TC"/>
                <a:ea typeface="PingFang TC"/>
                <a:cs typeface="PingFang TC"/>
              </a:rPr>
              <a:t>目前證據與產品範圍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C5E14-4C21-49DE-A86B-F193659F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授權拒絕資料已實際讀取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58CF92-58C0-446D-9601-48611427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程序記憶體紀錄，不是持久稽核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0B95F-81DE-474F-9784-C6FA8B83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1CA83"/>
                </a:solidFill>
                <a:latin typeface="PingFang TC"/>
                <a:ea typeface="PingFang TC"/>
                <a:cs typeface="PingFang TC"/>
              </a:rPr>
              <a:t>本次程序內拒絕資料已明確讀取；產品與lab範圍另外說明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AA3AD-F252-4F54-A718-22E98C3F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467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C5D4CB"/>
                </a:solidFill>
                <a:latin typeface="PingFang TC"/>
                <a:ea typeface="PingFang TC"/>
                <a:cs typeface="PingFang TC"/>
              </a:rPr>
              <a:t>36 / 36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351c4aaee40d5"/>
          <a:stretch xmlns:a="http://schemas.openxmlformats.org/drawingml/2006/main"/>
        </p:blipFill>
        <p:spPr>
          <a:xfrm xmlns:a="http://schemas.openxmlformats.org/drawingml/2006/main">
            <a:off x="12855071" y="628650"/>
            <a:ext cx="3741158" cy="809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561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2026-10-04T12:22:10.2690000Z</dcterms:created>
  <dcterms:modified xsi:type="dcterms:W3CDTF">2026-10-04T12:22:10.2690000Z</dcterms:modified>
</coreProperties>
</file>